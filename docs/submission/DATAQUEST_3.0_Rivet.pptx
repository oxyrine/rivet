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F51ECC6-2D4B-BA92-B282-4E3DA8165BC6}" name="RISHIT BISOYI" initials="RB" userId="S::rishit.bisoyi2025@vitstudent.ac.in::cd4f7ff7-75e1-49f2-a276-375c6c14782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2C0BEE-8EA0-ABCF-A62F-2B9F40FC6642}" v="1" dt="2026-10-06T20:26:11.604"/>
    <p1510:client id="{8792CA87-CA5F-61F4-2F34-29E534A3DBAA}" v="7" dt="2026-10-07T05:50:44.0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3B688531-0810-49A5-A43A-AC37517BACE6}" authorId="{4F51ECC6-2D4B-BA92-B282-4E3DA8165BC6}" created="2026-10-06T20:26:11.604">
    <pc:sldMkLst xmlns:pc="http://schemas.microsoft.com/office/powerpoint/2013/main/command">
      <pc:docMk/>
      <pc:sldMk cId="0" sldId="256"/>
    </pc:sldMkLst>
    <p188:txBody>
      <a:bodyPr/>
      <a:lstStyle/>
      <a:p>
        <a:r>
          <a:rPr lang="en-US"/>
          <a:t>Go to File-&gt;Create a copy-&gt;Download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0.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2194560"/>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2596896"/>
            <a:ext cx="146304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2999232"/>
            <a:ext cx="105156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9601200" y="640080"/>
            <a:ext cx="109728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56005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65733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rc 19"/>
          <p:cNvSpPr/>
          <p:nvPr/>
        </p:nvSpPr>
        <p:spPr>
          <a:xfrm>
            <a:off x="1463040" y="5303520"/>
            <a:ext cx="1005840" cy="73152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421892" y="56281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427732" y="526237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10800000">
            <a:off x="1645920" y="758952"/>
            <a:ext cx="219456" cy="256032"/>
          </a:xfrm>
          <a:prstGeom prst="triangle">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673352" y="685800"/>
            <a:ext cx="164592" cy="91440"/>
          </a:xfrm>
          <a:prstGeom prst="roundRect">
            <a:avLst>
              <a:gd name="adj" fmla="val 20000"/>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732788" y="822960"/>
            <a:ext cx="45720" cy="45720"/>
          </a:xfrm>
          <a:prstGeom prst="ellipse">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751076" y="868680"/>
            <a:ext cx="19050" cy="13716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45920" y="1078992"/>
            <a:ext cx="9144000" cy="1554480"/>
          </a:xfrm>
          <a:prstGeom prst="rect">
            <a:avLst/>
          </a:prstGeom>
          <a:noFill/>
        </p:spPr>
        <p:txBody>
          <a:bodyPr wrap="none" lIns="0" tIns="0" rIns="0" bIns="0">
            <a:spAutoFit/>
          </a:bodyPr>
          <a:lstStyle/>
          <a:p>
            <a:pPr>
              <a:defRPr sz="5600" b="1">
                <a:solidFill>
                  <a:srgbClr val="353334"/>
                </a:solidFill>
                <a:latin typeface="Fjalla One"/>
                <a:ea typeface="Fjalla One"/>
                <a:cs typeface="Fjalla One"/>
              </a:defRPr>
            </a:pPr>
            <a:r>
              <a:t>DATAQUEST 3.0</a:t>
            </a:r>
          </a:p>
          <a:p>
            <a:pPr>
              <a:spcBef>
                <a:spcPts val="200"/>
              </a:spcBef>
              <a:defRPr sz="3200" b="1">
                <a:solidFill>
                  <a:srgbClr val="FD1485"/>
                </a:solidFill>
                <a:latin typeface="Fjalla One"/>
                <a:ea typeface="Fjalla One"/>
                <a:cs typeface="Fjalla One"/>
              </a:defRPr>
            </a:pPr>
            <a:r>
              <a:t>ROUND 1</a:t>
            </a:r>
          </a:p>
        </p:txBody>
      </p:sp>
      <p:sp>
        <p:nvSpPr>
          <p:cNvPr id="28" name="Rectangle 27"/>
          <p:cNvSpPr/>
          <p:nvPr/>
        </p:nvSpPr>
        <p:spPr>
          <a:xfrm>
            <a:off x="1645920" y="2578608"/>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45920" y="2670048"/>
            <a:ext cx="9418320" cy="320040"/>
          </a:xfrm>
          <a:prstGeom prst="rect">
            <a:avLst/>
          </a:prstGeom>
          <a:noFill/>
        </p:spPr>
        <p:txBody>
          <a:bodyPr wrap="none" lIns="0" tIns="0" rIns="0" bIns="0">
            <a:spAutoFit/>
          </a:bodyPr>
          <a:lstStyle/>
          <a:p>
            <a:pPr>
              <a:defRPr sz="1200" b="1">
                <a:solidFill>
                  <a:srgbClr val="353334"/>
                </a:solidFill>
                <a:latin typeface="Mulish"/>
                <a:ea typeface="Mulish"/>
                <a:cs typeface="Mulish"/>
              </a:defRPr>
            </a:pPr>
            <a:r>
              <a:t>OFFICIAL PARTICIPANT PPT TEMPLATE</a:t>
            </a:r>
          </a:p>
        </p:txBody>
      </p:sp>
      <p:sp>
        <p:nvSpPr>
          <p:cNvPr id="30" name="Rounded Rectangle 29"/>
          <p:cNvSpPr/>
          <p:nvPr/>
        </p:nvSpPr>
        <p:spPr>
          <a:xfrm>
            <a:off x="1645920" y="3246120"/>
            <a:ext cx="4572000" cy="29260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311810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PROJECT DETAILS</a:t>
            </a:r>
          </a:p>
        </p:txBody>
      </p:sp>
      <p:sp>
        <p:nvSpPr>
          <p:cNvPr id="32" name="TextBox 31"/>
          <p:cNvSpPr txBox="1"/>
          <p:nvPr/>
        </p:nvSpPr>
        <p:spPr>
          <a:xfrm>
            <a:off x="1920240" y="3520440"/>
            <a:ext cx="4023360" cy="1987724"/>
          </a:xfrm>
          <a:prstGeom prst="rect">
            <a:avLst/>
          </a:prstGeom>
          <a:noFill/>
        </p:spPr>
        <p:txBody>
          <a:bodyPr wrap="square">
            <a:spAutoFit/>
          </a:bodyPr>
          <a:lstStyle/>
          <a:p>
            <a:pP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PROJECT TITLE</a:t>
            </a:r>
          </a:p>
          <a:p>
            <a:pPr>
              <a:spcBef>
                <a:spcPts val="200"/>
              </a:spcBef>
              <a:defRPr sz="1600" b="1">
                <a:solidFill>
                  <a:srgbClr val="FD1485"/>
                </a:solidFill>
                <a:latin typeface="Fjalla One"/>
                <a:ea typeface="Fjalla One"/>
                <a:cs typeface="Fjalla One"/>
              </a:defRPr>
            </a:pPr>
            <a:r>
              <a:rPr lang="en-US" sz="1600" b="1" dirty="0">
                <a:solidFill>
                  <a:srgbClr val="FD1485"/>
                </a:solidFill>
                <a:latin typeface="Fjalla One"/>
                <a:ea typeface="Fjalla One"/>
                <a:cs typeface="Fjalla One"/>
              </a:rPr>
              <a:t>Rivet</a:t>
            </a:r>
          </a:p>
          <a:p>
            <a:pPr>
              <a:spcBef>
                <a:spcPts val="1000"/>
              </a:spcBef>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ONE-LINE PITCH</a:t>
            </a:r>
          </a:p>
          <a:p>
            <a:pPr>
              <a:spcBef>
                <a:spcPts val="200"/>
              </a:spcBef>
              <a:defRPr sz="1050" b="0">
                <a:solidFill>
                  <a:srgbClr val="3C3C41"/>
                </a:solidFill>
                <a:latin typeface="Mulish"/>
                <a:ea typeface="Mulish"/>
                <a:cs typeface="Mulish"/>
              </a:defRPr>
            </a:pPr>
            <a:r>
              <a:rPr lang="en-US" sz="1050" b="0" dirty="0">
                <a:solidFill>
                  <a:srgbClr val="3C3C41"/>
                </a:solidFill>
                <a:latin typeface="Mulish"/>
                <a:ea typeface="Mulish"/>
                <a:cs typeface="Mulish"/>
              </a:rPr>
              <a:t>Rivet manages the commitments behind every industrial service job. When a technician, part or permit falls through, it shows everything that breaks, recovers it in one click, and closes the job only on evidence the customer can verify.</a:t>
            </a:r>
          </a:p>
          <a:p>
            <a:pPr>
              <a:spcBef>
                <a:spcPts val="1000"/>
              </a:spcBef>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TRACK</a:t>
            </a:r>
          </a:p>
          <a:p>
            <a:pPr>
              <a:spcBef>
                <a:spcPts val="200"/>
              </a:spcBef>
              <a:defRPr sz="1050" b="1">
                <a:solidFill>
                  <a:srgbClr val="079ED2"/>
                </a:solidFill>
                <a:latin typeface="Mulish"/>
                <a:ea typeface="Mulish"/>
                <a:cs typeface="Mulish"/>
              </a:defRPr>
            </a:pPr>
            <a:r>
              <a:rPr lang="en-US" sz="1050" b="1" dirty="0">
                <a:solidFill>
                  <a:srgbClr val="079ED2"/>
                </a:solidFill>
                <a:latin typeface="Mulish"/>
                <a:ea typeface="Mulish"/>
                <a:cs typeface="Mulish"/>
              </a:rPr>
              <a:t> </a:t>
            </a:r>
            <a:r>
              <a:rPr lang="en-IN" sz="1050" b="1" cap="all" dirty="0">
                <a:solidFill>
                  <a:srgbClr val="079ED2"/>
                </a:solidFill>
                <a:latin typeface="Mulish"/>
              </a:rPr>
              <a:t>DQBH</a:t>
            </a:r>
            <a:endParaRPr lang="en-US" sz="1050" b="1" dirty="0">
              <a:solidFill>
                <a:srgbClr val="079ED2"/>
              </a:solidFill>
              <a:latin typeface="Mulish"/>
              <a:ea typeface="Mulish"/>
              <a:cs typeface="Mulish"/>
            </a:endParaRPr>
          </a:p>
        </p:txBody>
      </p:sp>
      <p:sp>
        <p:nvSpPr>
          <p:cNvPr id="33" name="Rounded Rectangle 32"/>
          <p:cNvSpPr/>
          <p:nvPr/>
        </p:nvSpPr>
        <p:spPr>
          <a:xfrm>
            <a:off x="6492240" y="3246120"/>
            <a:ext cx="4572000" cy="29260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311810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ea typeface="Mulish"/>
                <a:cs typeface="Mulish"/>
              </a:defRPr>
            </a:pPr>
            <a:r>
              <a:t>TEAM &amp; MEMBERS</a:t>
            </a:r>
          </a:p>
        </p:txBody>
      </p:sp>
      <p:sp>
        <p:nvSpPr>
          <p:cNvPr id="35" name="TextBox 34"/>
          <p:cNvSpPr txBox="1"/>
          <p:nvPr/>
        </p:nvSpPr>
        <p:spPr>
          <a:xfrm>
            <a:off x="6766560" y="3520440"/>
            <a:ext cx="4023360" cy="1579920"/>
          </a:xfrm>
          <a:prstGeom prst="rect">
            <a:avLst/>
          </a:prstGeom>
          <a:noFill/>
        </p:spPr>
        <p:txBody>
          <a:bodyPr wrap="square">
            <a:spAutoFit/>
          </a:bodyPr>
          <a:lstStyle/>
          <a:p>
            <a:pP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TEAM</a:t>
            </a:r>
          </a:p>
          <a:p>
            <a:pPr>
              <a:spcBef>
                <a:spcPts val="200"/>
              </a:spcBef>
              <a:defRPr sz="1600" b="1">
                <a:solidFill>
                  <a:srgbClr val="353334"/>
                </a:solidFill>
                <a:latin typeface="Fjalla One"/>
                <a:ea typeface="Fjalla One"/>
                <a:cs typeface="Fjalla One"/>
              </a:defRPr>
            </a:pPr>
            <a:r>
              <a:rPr lang="en-US" sz="1600" b="1" dirty="0" err="1">
                <a:solidFill>
                  <a:srgbClr val="353334"/>
                </a:solidFill>
                <a:latin typeface="Fjalla One"/>
                <a:ea typeface="Fjalla One"/>
                <a:cs typeface="Fjalla One"/>
              </a:rPr>
              <a:t>Burbn</a:t>
            </a:r>
            <a:r>
              <a:rPr lang="en-US" sz="1600" b="1" dirty="0">
                <a:solidFill>
                  <a:srgbClr val="353334"/>
                </a:solidFill>
                <a:latin typeface="Fjalla One"/>
                <a:ea typeface="Fjalla One"/>
                <a:cs typeface="Fjalla One"/>
              </a:rPr>
              <a:t>.</a:t>
            </a:r>
          </a:p>
          <a:p>
            <a:pPr>
              <a:spcBef>
                <a:spcPts val="1000"/>
              </a:spcBef>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PARTICIPANTS</a:t>
            </a:r>
          </a:p>
          <a:p>
            <a:pPr>
              <a:spcBef>
                <a:spcPts val="200"/>
              </a:spcBef>
              <a:defRPr sz="1050" b="0">
                <a:solidFill>
                  <a:srgbClr val="3C3C41"/>
                </a:solidFill>
                <a:latin typeface="Mulish"/>
                <a:ea typeface="Mulish"/>
                <a:cs typeface="Mulish"/>
              </a:defRPr>
            </a:pPr>
            <a:r>
              <a:rPr lang="en-US" sz="1050" b="0" dirty="0">
                <a:solidFill>
                  <a:srgbClr val="3C3C41"/>
                </a:solidFill>
                <a:latin typeface="Mulish"/>
                <a:ea typeface="Mulish"/>
                <a:cs typeface="Mulish"/>
              </a:rPr>
              <a:t>•</a:t>
            </a:r>
            <a:r>
              <a:rPr lang="en-US" sz="1050" dirty="0">
                <a:solidFill>
                  <a:srgbClr val="3C3C41"/>
                </a:solidFill>
                <a:latin typeface="Mulish"/>
                <a:ea typeface="Mulish"/>
                <a:cs typeface="Mulish"/>
              </a:rPr>
              <a:t>  Aakash A - 310625104004</a:t>
            </a:r>
            <a:endParaRPr lang="en-US" sz="1050" b="0" dirty="0">
              <a:solidFill>
                <a:srgbClr val="3C3C41"/>
              </a:solidFill>
              <a:latin typeface="Mulish"/>
              <a:ea typeface="Mulish"/>
              <a:cs typeface="Mulish"/>
            </a:endParaRPr>
          </a:p>
          <a:p>
            <a:pPr>
              <a:spcBef>
                <a:spcPts val="200"/>
              </a:spcBef>
              <a:defRPr sz="1050" b="0">
                <a:solidFill>
                  <a:srgbClr val="3C3C41"/>
                </a:solidFill>
                <a:latin typeface="Mulish"/>
                <a:ea typeface="Mulish"/>
                <a:cs typeface="Mulish"/>
              </a:defRPr>
            </a:pPr>
            <a:r>
              <a:rPr lang="en-US" sz="1050" b="0" dirty="0">
                <a:solidFill>
                  <a:srgbClr val="3C3C41"/>
                </a:solidFill>
                <a:latin typeface="Mulish"/>
                <a:ea typeface="Mulish"/>
                <a:cs typeface="Mulish"/>
              </a:rPr>
              <a:t>•  </a:t>
            </a:r>
            <a:r>
              <a:rPr lang="en-US" sz="1050" dirty="0">
                <a:solidFill>
                  <a:srgbClr val="3C3C41"/>
                </a:solidFill>
                <a:latin typeface="Mulish"/>
                <a:ea typeface="Mulish"/>
                <a:cs typeface="Mulish"/>
              </a:rPr>
              <a:t>Abdul Haashir - 310625104005</a:t>
            </a:r>
            <a:endParaRPr lang="en-US" sz="1050" b="0" dirty="0">
              <a:solidFill>
                <a:srgbClr val="3C3C41"/>
              </a:solidFill>
              <a:latin typeface="Mulish"/>
              <a:ea typeface="Mulish"/>
              <a:cs typeface="Mulish"/>
            </a:endParaRPr>
          </a:p>
          <a:p>
            <a:pPr>
              <a:spcBef>
                <a:spcPts val="200"/>
              </a:spcBef>
              <a:defRPr sz="1050" b="0">
                <a:solidFill>
                  <a:srgbClr val="3C3C41"/>
                </a:solidFill>
                <a:latin typeface="Mulish"/>
                <a:ea typeface="Mulish"/>
                <a:cs typeface="Mulish"/>
              </a:defRPr>
            </a:pPr>
            <a:r>
              <a:rPr lang="en-US" sz="1050" b="0" dirty="0">
                <a:solidFill>
                  <a:srgbClr val="3C3C41"/>
                </a:solidFill>
                <a:latin typeface="Mulish"/>
                <a:ea typeface="Mulish"/>
                <a:cs typeface="Mulish"/>
              </a:rPr>
              <a:t>•  Lakshita V - 310625104184</a:t>
            </a:r>
          </a:p>
          <a:p>
            <a:pPr>
              <a:spcBef>
                <a:spcPts val="200"/>
              </a:spcBef>
              <a:defRPr sz="1050" b="0">
                <a:solidFill>
                  <a:srgbClr val="3C3C41"/>
                </a:solidFill>
                <a:latin typeface="Mulish"/>
                <a:ea typeface="Mulish"/>
                <a:cs typeface="Mulish"/>
              </a:defRPr>
            </a:pPr>
            <a:r>
              <a:rPr lang="en-US" sz="1050" b="0" dirty="0">
                <a:solidFill>
                  <a:srgbClr val="3C3C41"/>
                </a:solidFill>
                <a:latin typeface="Mulish"/>
                <a:ea typeface="Mulish"/>
                <a:cs typeface="Mulish"/>
              </a:rPr>
              <a:t>•  </a:t>
            </a:r>
            <a:r>
              <a:rPr lang="en-US" sz="1050" dirty="0">
                <a:solidFill>
                  <a:srgbClr val="3C3C41"/>
                </a:solidFill>
                <a:latin typeface="Mulish"/>
                <a:ea typeface="Mulish"/>
                <a:cs typeface="Mulish"/>
              </a:rPr>
              <a:t>Shyam Ganesh - 310625104367</a:t>
            </a:r>
            <a:endParaRPr lang="en-US" sz="1050" b="0" dirty="0">
              <a:solidFill>
                <a:srgbClr val="3C3C41"/>
              </a:solidFill>
              <a:latin typeface="Mulish"/>
              <a:ea typeface="Mulish"/>
              <a:cs typeface="Mulish"/>
            </a:endParaRPr>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ea typeface="Mulish"/>
                <a:cs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pPr>
              <a:defRPr sz="3600" b="1">
                <a:solidFill>
                  <a:srgbClr val="FD1485"/>
                </a:solidFill>
                <a:latin typeface="Fjalla One"/>
                <a:ea typeface="Fjalla One"/>
                <a:cs typeface="Fjalla One"/>
              </a:defRPr>
            </a:pPr>
            <a:r>
              <a:rPr sz="3600" b="1">
                <a:solidFill>
                  <a:srgbClr val="FD1485"/>
                </a:solidFill>
                <a:latin typeface="Fjalla One"/>
                <a:ea typeface="Fjalla One"/>
                <a:cs typeface="Fjalla One"/>
              </a:rPr>
              <a:t>02  </a:t>
            </a:r>
            <a:r>
              <a:rPr sz="3200" b="1">
                <a:solidFill>
                  <a:srgbClr val="353334"/>
                </a:solidFill>
                <a:latin typeface="Fjalla One"/>
                <a:ea typeface="Fjalla One"/>
                <a:cs typeface="Fjalla One"/>
              </a:rPr>
              <a:t>Problem Definition</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ea typeface="Mulish"/>
                <a:cs typeface="Mulish"/>
              </a:defRPr>
            </a:pPr>
            <a:r>
              <a:t>Who is impacted · Today's workarounds · Why current methods fail · Concrete proof</a:t>
            </a:r>
          </a:p>
        </p:txBody>
      </p:sp>
      <p:sp>
        <p:nvSpPr>
          <p:cNvPr id="24" name="Rounded Rectangle 23"/>
          <p:cNvSpPr/>
          <p:nvPr/>
        </p:nvSpPr>
        <p:spPr>
          <a:xfrm>
            <a:off x="164592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9293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01 · AUDIENCE</a:t>
            </a:r>
          </a:p>
        </p:txBody>
      </p:sp>
      <p:sp>
        <p:nvSpPr>
          <p:cNvPr id="26" name="TextBox 25"/>
          <p:cNvSpPr txBox="1"/>
          <p:nvPr/>
        </p:nvSpPr>
        <p:spPr>
          <a:xfrm>
            <a:off x="1920240" y="2313432"/>
            <a:ext cx="4023360" cy="1518920"/>
          </a:xfrm>
          <a:prstGeom prst="rect">
            <a:avLst/>
          </a:prstGeom>
          <a:noFill/>
        </p:spPr>
        <p:txBody>
          <a:bodyPr wrap="square">
            <a:spAutoFit/>
          </a:bodyPr>
          <a:lstStyle/>
          <a:p>
            <a:pPr>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WHO &amp; HOW OFTEN</a:t>
            </a:r>
          </a:p>
          <a:p>
            <a:pPr>
              <a:spcBef>
                <a:spcPts val="4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Multi-site industrial service providers (OEM service arms and AMC contractors) and the plants they serve. It happens on every unscheduled breakdown at every site.</a:t>
            </a:r>
          </a:p>
          <a:p>
            <a:pPr>
              <a:spcBef>
                <a:spcPts val="2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Global field-service software is a USD 5.4 B market (2025); India alone is projected at USD 0.26 B by 2026.</a:t>
            </a:r>
          </a:p>
        </p:txBody>
      </p:sp>
      <p:sp>
        <p:nvSpPr>
          <p:cNvPr id="27" name="Rounded Rectangle 26"/>
          <p:cNvSpPr/>
          <p:nvPr/>
        </p:nvSpPr>
        <p:spPr>
          <a:xfrm>
            <a:off x="649224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9293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ea typeface="Mulish"/>
                <a:cs typeface="Mulish"/>
              </a:defRPr>
            </a:pPr>
            <a:r>
              <a:t>02 · STATUS QUO</a:t>
            </a:r>
          </a:p>
        </p:txBody>
      </p:sp>
      <p:sp>
        <p:nvSpPr>
          <p:cNvPr id="29" name="TextBox 28"/>
          <p:cNvSpPr txBox="1"/>
          <p:nvPr/>
        </p:nvSpPr>
        <p:spPr>
          <a:xfrm>
            <a:off x="6766560" y="2313432"/>
            <a:ext cx="4023360" cy="1518920"/>
          </a:xfrm>
          <a:prstGeom prst="rect">
            <a:avLst/>
          </a:prstGeom>
          <a:noFill/>
        </p:spPr>
        <p:txBody>
          <a:bodyPr wrap="square">
            <a:spAutoFit/>
          </a:bodyPr>
          <a:lstStyle/>
          <a:p>
            <a:pPr>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CURRENT APPROACH</a:t>
            </a:r>
          </a:p>
          <a:p>
            <a:pPr>
              <a:spcBef>
                <a:spcPts val="4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Requests arrive by phone and WhatsApp. Technician schedules live in spreadsheets, and spare parts are "kept aside" in a chat message.</a:t>
            </a:r>
          </a:p>
          <a:p>
            <a:pPr>
              <a:spcBef>
                <a:spcPts val="2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When a technician drops out, a coordinator calls around job by job. Completion rests on the technician's own report and a signature on the provider's form.</a:t>
            </a:r>
          </a:p>
        </p:txBody>
      </p:sp>
      <p:sp>
        <p:nvSpPr>
          <p:cNvPr id="30" name="Rounded Rectangle 29"/>
          <p:cNvSpPr/>
          <p:nvPr/>
        </p:nvSpPr>
        <p:spPr>
          <a:xfrm>
            <a:off x="164592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2611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03 · DEFICIENCY</a:t>
            </a:r>
          </a:p>
        </p:txBody>
      </p:sp>
      <p:sp>
        <p:nvSpPr>
          <p:cNvPr id="32" name="TextBox 31"/>
          <p:cNvSpPr txBox="1"/>
          <p:nvPr/>
        </p:nvSpPr>
        <p:spPr>
          <a:xfrm>
            <a:off x="1920240" y="4645152"/>
            <a:ext cx="4023360" cy="1704340"/>
          </a:xfrm>
          <a:prstGeom prst="rect">
            <a:avLst/>
          </a:prstGeom>
          <a:noFill/>
        </p:spPr>
        <p:txBody>
          <a:bodyPr wrap="square">
            <a:spAutoFit/>
          </a:bodyPr>
          <a:lstStyle/>
          <a:p>
            <a:pPr>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WHY IT FALLS SHORT</a:t>
            </a:r>
          </a:p>
          <a:p>
            <a:pPr>
              <a:spcBef>
                <a:spcPts val="4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Promises have no owner and no expiry, so nothing can check them.</a:t>
            </a:r>
          </a:p>
          <a:p>
            <a:pPr>
              <a:spcBef>
                <a:spcPts val="2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A dropout is fixed one job at a time while its knock-on effects on later jobs, parts and SLAs surface hours later.</a:t>
            </a:r>
          </a:p>
          <a:p>
            <a:pPr>
              <a:spcBef>
                <a:spcPts val="2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Completion is self-reported, and the history lives in the provider's system, so penalty and warranty disputes become arguments.</a:t>
            </a:r>
          </a:p>
        </p:txBody>
      </p:sp>
      <p:sp>
        <p:nvSpPr>
          <p:cNvPr id="33" name="Rounded Rectangle 32"/>
          <p:cNvSpPr/>
          <p:nvPr/>
        </p:nvSpPr>
        <p:spPr>
          <a:xfrm>
            <a:off x="649224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426110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04 · VALIDATION</a:t>
            </a:r>
          </a:p>
        </p:txBody>
      </p:sp>
      <p:sp>
        <p:nvSpPr>
          <p:cNvPr id="35" name="TextBox 34"/>
          <p:cNvSpPr txBox="1"/>
          <p:nvPr/>
        </p:nvSpPr>
        <p:spPr>
          <a:xfrm>
            <a:off x="6766560" y="4645152"/>
            <a:ext cx="4023360" cy="1659890"/>
          </a:xfrm>
          <a:prstGeom prst="rect">
            <a:avLst/>
          </a:prstGeom>
          <a:noFill/>
        </p:spPr>
        <p:txBody>
          <a:bodyPr wrap="square">
            <a:spAutoFit/>
          </a:bodyPr>
          <a:lstStyle/>
          <a:p>
            <a:pPr>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EVIDENCE</a:t>
            </a:r>
          </a:p>
          <a:p>
            <a:pPr marL="114300" indent="-114300">
              <a:spcBef>
                <a:spcPts val="150"/>
              </a:spcBef>
              <a:buClr>
                <a:srgbClr val="FD1485"/>
              </a:buClr>
              <a:buFont typeface="Arial"/>
              <a:buChar char="•"/>
              <a:defRPr sz="1000" b="0">
                <a:solidFill>
                  <a:srgbClr val="3C3C41"/>
                </a:solidFill>
                <a:latin typeface="Mulish"/>
                <a:ea typeface="Mulish"/>
                <a:cs typeface="Mulish"/>
              </a:defRPr>
            </a:pPr>
            <a:r>
              <a:rPr lang="en-US" sz="1000" b="0" dirty="0">
                <a:solidFill>
                  <a:srgbClr val="3C3C41"/>
                </a:solidFill>
                <a:latin typeface="Mulish"/>
                <a:ea typeface="Mulish"/>
                <a:cs typeface="Mulish"/>
              </a:rPr>
              <a:t>The brief's own M-104 scenario: manual checks, sudden dropouts, uncoordinated delays.</a:t>
            </a:r>
          </a:p>
          <a:p>
            <a:pPr marL="114300" indent="-114300">
              <a:spcBef>
                <a:spcPts val="150"/>
              </a:spcBef>
              <a:buClr>
                <a:srgbClr val="FD1485"/>
              </a:buClr>
              <a:buFont typeface="Arial"/>
              <a:buChar char="•"/>
              <a:defRPr sz="1000" b="0">
                <a:solidFill>
                  <a:srgbClr val="3C3C41"/>
                </a:solidFill>
                <a:latin typeface="Mulish"/>
                <a:ea typeface="Mulish"/>
                <a:cs typeface="Mulish"/>
              </a:defRPr>
            </a:pPr>
            <a:r>
              <a:rPr lang="en-US" sz="1000" b="0" dirty="0">
                <a:solidFill>
                  <a:srgbClr val="3C3C41"/>
                </a:solidFill>
                <a:latin typeface="Mulish"/>
                <a:ea typeface="Mulish"/>
                <a:cs typeface="Mulish"/>
              </a:rPr>
              <a:t>Salesforce's 2025 field-service research: scheduling is the #1 time drain, technicians lose nearly a full workday a week to admin, and one booking takes 17 minutes.</a:t>
            </a:r>
          </a:p>
          <a:p>
            <a:pPr marL="114300" indent="-114300">
              <a:spcBef>
                <a:spcPts val="150"/>
              </a:spcBef>
              <a:buClr>
                <a:srgbClr val="FD1485"/>
              </a:buClr>
              <a:buFont typeface="Arial"/>
              <a:buChar char="•"/>
              <a:defRPr sz="1000" b="0">
                <a:solidFill>
                  <a:srgbClr val="3C3C41"/>
                </a:solidFill>
                <a:latin typeface="Mulish"/>
                <a:ea typeface="Mulish"/>
                <a:cs typeface="Mulish"/>
              </a:defRPr>
            </a:pPr>
            <a:r>
              <a:rPr lang="en-US" sz="1000" b="0" dirty="0">
                <a:solidFill>
                  <a:srgbClr val="3C3C41"/>
                </a:solidFill>
                <a:latin typeface="Mulish"/>
                <a:ea typeface="Mulish"/>
                <a:cs typeface="Mulish"/>
              </a:rPr>
              <a:t>Mid-market tools like Zoho FSM still close jobs on a signed provider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ea typeface="Mulish"/>
                <a:cs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pPr>
              <a:defRPr sz="3600" b="1">
                <a:solidFill>
                  <a:srgbClr val="FD1485"/>
                </a:solidFill>
                <a:latin typeface="Fjalla One"/>
                <a:ea typeface="Fjalla One"/>
                <a:cs typeface="Fjalla One"/>
              </a:defRPr>
            </a:pPr>
            <a:r>
              <a:rPr sz="3600" b="1">
                <a:solidFill>
                  <a:srgbClr val="FD1485"/>
                </a:solidFill>
                <a:latin typeface="Fjalla One"/>
                <a:ea typeface="Fjalla One"/>
                <a:cs typeface="Fjalla One"/>
              </a:rPr>
              <a:t>03  </a:t>
            </a:r>
            <a:r>
              <a:rPr sz="3200" b="1">
                <a:solidFill>
                  <a:srgbClr val="353334"/>
                </a:solidFill>
                <a:latin typeface="Fjalla One"/>
                <a:ea typeface="Fjalla One"/>
                <a:cs typeface="Fjalla One"/>
              </a:rPr>
              <a:t>Proposed Solution</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ea typeface="Mulish"/>
                <a:cs typeface="Mulish"/>
              </a:defRPr>
            </a:pPr>
            <a:r>
              <a:t>System identity · End-to-end user workflow · Competitive advantages</a:t>
            </a:r>
          </a:p>
        </p:txBody>
      </p:sp>
      <p:sp>
        <p:nvSpPr>
          <p:cNvPr id="24" name="Rounded Rectangle 23"/>
          <p:cNvSpPr/>
          <p:nvPr/>
        </p:nvSpPr>
        <p:spPr>
          <a:xfrm>
            <a:off x="1645920" y="2011680"/>
            <a:ext cx="9418320" cy="11887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SOLUTION CORE</a:t>
            </a:r>
          </a:p>
        </p:txBody>
      </p:sp>
      <p:sp>
        <p:nvSpPr>
          <p:cNvPr id="26" name="TextBox 25"/>
          <p:cNvSpPr txBox="1"/>
          <p:nvPr/>
        </p:nvSpPr>
        <p:spPr>
          <a:xfrm>
            <a:off x="1920240" y="2194560"/>
            <a:ext cx="8869680" cy="894080"/>
          </a:xfrm>
          <a:prstGeom prst="rect">
            <a:avLst/>
          </a:prstGeom>
          <a:noFill/>
        </p:spPr>
        <p:txBody>
          <a:bodyPr wrap="square">
            <a:spAutoFit/>
          </a:bodyPr>
          <a:lstStyle/>
          <a:p>
            <a:pPr>
              <a:defRPr sz="1600" b="1">
                <a:solidFill>
                  <a:srgbClr val="353334"/>
                </a:solidFill>
                <a:latin typeface="Fjalla One"/>
                <a:ea typeface="Fjalla One"/>
                <a:cs typeface="Fjalla One"/>
              </a:defRPr>
            </a:pPr>
            <a:r>
              <a:rPr lang="en-US" sz="1600" b="1" dirty="0">
                <a:solidFill>
                  <a:srgbClr val="353334"/>
                </a:solidFill>
                <a:latin typeface="Fjalla One"/>
                <a:ea typeface="Fjalla One"/>
                <a:cs typeface="Fjalla One"/>
              </a:rPr>
              <a:t>RIVET: Ledger → Cascade → Recovery → Proof</a:t>
            </a:r>
          </a:p>
          <a:p>
            <a:pPr>
              <a:spcBef>
                <a:spcPts val="3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Every technician-hour, spare part, SLA and plant permit is recorded as a commitment. When one breaks, Rivet finds everything affected, recovers it with a safe plan, and closes the job only on evidence the customer can verify.</a:t>
            </a:r>
          </a:p>
        </p:txBody>
      </p:sp>
      <p:sp>
        <p:nvSpPr>
          <p:cNvPr id="27" name="Rounded Rectangle 26"/>
          <p:cNvSpPr/>
          <p:nvPr/>
        </p:nvSpPr>
        <p:spPr>
          <a:xfrm>
            <a:off x="1645920" y="3383280"/>
            <a:ext cx="9418320" cy="1280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965960" y="325526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USER FLOW</a:t>
            </a:r>
          </a:p>
        </p:txBody>
      </p:sp>
      <p:sp>
        <p:nvSpPr>
          <p:cNvPr id="29" name="Rounded Rectangle 28"/>
          <p:cNvSpPr/>
          <p:nvPr/>
        </p:nvSpPr>
        <p:spPr>
          <a:xfrm>
            <a:off x="1920240" y="3822192"/>
            <a:ext cx="2560320" cy="640080"/>
          </a:xfrm>
          <a:prstGeom prst="roundRect">
            <a:avLst>
              <a:gd name="adj" fmla="val 8000"/>
            </a:avLst>
          </a:prstGeom>
          <a:solidFill>
            <a:srgbClr val="FFFFFF"/>
          </a:solidFill>
          <a:ln w="19050">
            <a:solidFill>
              <a:srgbClr val="079ED2"/>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ea typeface="Fjalla One"/>
                <a:cs typeface="Fjalla One"/>
              </a:defRPr>
            </a:pPr>
            <a:r>
              <a:rPr lang="en-US" sz="1000" b="1" dirty="0">
                <a:solidFill>
                  <a:srgbClr val="353334"/>
                </a:solidFill>
                <a:latin typeface="Fjalla One"/>
                <a:ea typeface="Fjalla One"/>
                <a:cs typeface="Fjalla One"/>
              </a:rPr>
              <a:t>1. USER INPUT</a:t>
            </a:r>
          </a:p>
          <a:p>
            <a:pPr algn="ctr">
              <a:defRPr sz="800" b="0">
                <a:solidFill>
                  <a:srgbClr val="3C3C41"/>
                </a:solidFill>
                <a:latin typeface="Mulish"/>
                <a:ea typeface="Mulish"/>
                <a:cs typeface="Mulish"/>
              </a:defRPr>
            </a:pPr>
            <a:r>
              <a:rPr lang="en-US" sz="800" b="0" dirty="0">
                <a:solidFill>
                  <a:srgbClr val="3C3C41"/>
                </a:solidFill>
                <a:latin typeface="Mulish"/>
                <a:ea typeface="Mulish"/>
                <a:cs typeface="Mulish"/>
              </a:rPr>
              <a:t>A breakdown request from a sensor, the customer portal or a coordinator</a:t>
            </a:r>
          </a:p>
        </p:txBody>
      </p:sp>
      <p:sp>
        <p:nvSpPr>
          <p:cNvPr id="30" name="TextBox 29"/>
          <p:cNvSpPr txBox="1"/>
          <p:nvPr/>
        </p:nvSpPr>
        <p:spPr>
          <a:xfrm>
            <a:off x="4590288" y="3931920"/>
            <a:ext cx="329184" cy="365760"/>
          </a:xfrm>
          <a:prstGeom prst="rect">
            <a:avLst/>
          </a:prstGeom>
          <a:noFill/>
        </p:spPr>
        <p:txBody>
          <a:bodyPr wrap="none" lIns="0" tIns="0" rIns="0" bIns="0">
            <a:spAutoFit/>
          </a:bodyPr>
          <a:lstStyle/>
          <a:p>
            <a:pPr algn="ctr">
              <a:defRPr sz="1800" b="1">
                <a:solidFill>
                  <a:srgbClr val="353334"/>
                </a:solidFill>
                <a:latin typeface="Mulish"/>
                <a:ea typeface="Mulish"/>
                <a:cs typeface="Mulish"/>
              </a:defRPr>
            </a:pPr>
            <a:r>
              <a:t>➔</a:t>
            </a:r>
          </a:p>
        </p:txBody>
      </p:sp>
      <p:sp>
        <p:nvSpPr>
          <p:cNvPr id="31" name="Rounded Rectangle 30"/>
          <p:cNvSpPr/>
          <p:nvPr/>
        </p:nvSpPr>
        <p:spPr>
          <a:xfrm>
            <a:off x="5029200" y="3822192"/>
            <a:ext cx="2560320" cy="640080"/>
          </a:xfrm>
          <a:prstGeom prst="roundRect">
            <a:avLst>
              <a:gd name="adj" fmla="val 8000"/>
            </a:avLst>
          </a:prstGeom>
          <a:solidFill>
            <a:srgbClr val="FFFFFF"/>
          </a:solidFill>
          <a:ln w="19050">
            <a:solidFill>
              <a:srgbClr val="FFB903"/>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ea typeface="Fjalla One"/>
                <a:cs typeface="Fjalla One"/>
              </a:defRPr>
            </a:pPr>
            <a:r>
              <a:rPr lang="en-US" sz="1000" b="1" dirty="0">
                <a:solidFill>
                  <a:srgbClr val="353334"/>
                </a:solidFill>
                <a:latin typeface="Fjalla One"/>
                <a:ea typeface="Fjalla One"/>
                <a:cs typeface="Fjalla One"/>
              </a:rPr>
              <a:t>2. PROCESSING</a:t>
            </a:r>
          </a:p>
          <a:p>
            <a:pPr algn="ctr">
              <a:defRPr sz="800" b="0">
                <a:solidFill>
                  <a:srgbClr val="3C3C41"/>
                </a:solidFill>
                <a:latin typeface="Mulish"/>
                <a:ea typeface="Mulish"/>
                <a:cs typeface="Mulish"/>
              </a:defRPr>
            </a:pPr>
            <a:r>
              <a:rPr lang="en-US" sz="800" b="0" dirty="0">
                <a:solidFill>
                  <a:srgbClr val="3C3C41"/>
                </a:solidFill>
                <a:latin typeface="Mulish"/>
                <a:ea typeface="Mulish"/>
                <a:cs typeface="Mulish"/>
              </a:rPr>
              <a:t>Ledger → Cascade → Recovery → Proof</a:t>
            </a:r>
          </a:p>
        </p:txBody>
      </p:sp>
      <p:sp>
        <p:nvSpPr>
          <p:cNvPr id="32" name="TextBox 31"/>
          <p:cNvSpPr txBox="1"/>
          <p:nvPr/>
        </p:nvSpPr>
        <p:spPr>
          <a:xfrm>
            <a:off x="7699248" y="3931920"/>
            <a:ext cx="329184" cy="365760"/>
          </a:xfrm>
          <a:prstGeom prst="rect">
            <a:avLst/>
          </a:prstGeom>
          <a:noFill/>
        </p:spPr>
        <p:txBody>
          <a:bodyPr wrap="none" lIns="0" tIns="0" rIns="0" bIns="0">
            <a:spAutoFit/>
          </a:bodyPr>
          <a:lstStyle/>
          <a:p>
            <a:pPr algn="ctr">
              <a:defRPr sz="1800" b="1">
                <a:solidFill>
                  <a:srgbClr val="353334"/>
                </a:solidFill>
                <a:latin typeface="Mulish"/>
                <a:ea typeface="Mulish"/>
                <a:cs typeface="Mulish"/>
              </a:defRPr>
            </a:pPr>
            <a:r>
              <a:t>➔</a:t>
            </a:r>
          </a:p>
        </p:txBody>
      </p:sp>
      <p:sp>
        <p:nvSpPr>
          <p:cNvPr id="33" name="Rounded Rectangle 32"/>
          <p:cNvSpPr/>
          <p:nvPr/>
        </p:nvSpPr>
        <p:spPr>
          <a:xfrm>
            <a:off x="8138160" y="3822192"/>
            <a:ext cx="2560320" cy="640080"/>
          </a:xfrm>
          <a:prstGeom prst="roundRect">
            <a:avLst>
              <a:gd name="adj" fmla="val 8000"/>
            </a:avLst>
          </a:prstGeom>
          <a:solidFill>
            <a:srgbClr val="FFFFFF"/>
          </a:solidFill>
          <a:ln w="19050">
            <a:solidFill>
              <a:srgbClr val="FD1485"/>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353334"/>
                </a:solidFill>
                <a:latin typeface="Fjalla One"/>
                <a:ea typeface="Fjalla One"/>
                <a:cs typeface="Fjalla One"/>
              </a:defRPr>
            </a:pPr>
            <a:r>
              <a:rPr lang="en-US" sz="1000" b="1" dirty="0">
                <a:solidFill>
                  <a:srgbClr val="353334"/>
                </a:solidFill>
                <a:latin typeface="Fjalla One"/>
                <a:ea typeface="Fjalla One"/>
                <a:cs typeface="Fjalla One"/>
              </a:rPr>
              <a:t>3. OUTPUT</a:t>
            </a:r>
          </a:p>
          <a:p>
            <a:pPr algn="ctr">
              <a:defRPr sz="800" b="0">
                <a:solidFill>
                  <a:srgbClr val="3C3C41"/>
                </a:solidFill>
                <a:latin typeface="Mulish"/>
                <a:ea typeface="Mulish"/>
                <a:cs typeface="Mulish"/>
              </a:defRPr>
            </a:pPr>
            <a:r>
              <a:rPr lang="en-US" sz="800" b="0" dirty="0">
                <a:solidFill>
                  <a:srgbClr val="3C3C41"/>
                </a:solidFill>
                <a:latin typeface="Mulish"/>
                <a:ea typeface="Mulish"/>
                <a:cs typeface="Mulish"/>
              </a:rPr>
              <a:t>A recovered schedule and a closure the customer can verify</a:t>
            </a:r>
          </a:p>
        </p:txBody>
      </p:sp>
      <p:sp>
        <p:nvSpPr>
          <p:cNvPr id="34" name="Rounded Rectangle 33"/>
          <p:cNvSpPr/>
          <p:nvPr/>
        </p:nvSpPr>
        <p:spPr>
          <a:xfrm>
            <a:off x="1645920" y="4846320"/>
            <a:ext cx="4572000" cy="16916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965960" y="471830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ea typeface="Mulish"/>
                <a:cs typeface="Mulish"/>
              </a:defRPr>
            </a:pPr>
            <a:r>
              <a:t>ADVANTAGE</a:t>
            </a:r>
          </a:p>
        </p:txBody>
      </p:sp>
      <p:sp>
        <p:nvSpPr>
          <p:cNvPr id="36" name="TextBox 35"/>
          <p:cNvSpPr txBox="1"/>
          <p:nvPr/>
        </p:nvSpPr>
        <p:spPr>
          <a:xfrm>
            <a:off x="1920240" y="5074920"/>
            <a:ext cx="4023360" cy="1209802"/>
          </a:xfrm>
          <a:prstGeom prst="rect">
            <a:avLst/>
          </a:prstGeom>
          <a:noFill/>
        </p:spPr>
        <p:txBody>
          <a:bodyPr wrap="square">
            <a:spAutoFit/>
          </a:bodyPr>
          <a:lstStyle/>
          <a:p>
            <a:pPr>
              <a:defRPr sz="1200" b="1">
                <a:solidFill>
                  <a:srgbClr val="353334"/>
                </a:solidFill>
                <a:latin typeface="Fjalla One"/>
                <a:ea typeface="Fjalla One"/>
                <a:cs typeface="Fjalla One"/>
              </a:defRPr>
            </a:pPr>
            <a:r>
              <a:rPr lang="en-US" sz="1200" b="1" dirty="0">
                <a:solidFill>
                  <a:srgbClr val="353334"/>
                </a:solidFill>
                <a:latin typeface="Fjalla One"/>
                <a:ea typeface="Fjalla One"/>
                <a:cs typeface="Fjalla One"/>
              </a:rPr>
              <a:t>WHY IT IS BETTER</a:t>
            </a:r>
          </a:p>
          <a:p>
            <a:pPr>
              <a:spcBef>
                <a:spcPts val="300"/>
              </a:spcBef>
              <a:defRPr sz="850" b="0">
                <a:solidFill>
                  <a:srgbClr val="3C3C41"/>
                </a:solidFill>
                <a:latin typeface="Mulish"/>
                <a:ea typeface="Mulish"/>
                <a:cs typeface="Mulish"/>
              </a:defRPr>
            </a:pPr>
            <a:r>
              <a:rPr lang="en-US" sz="850" b="0" dirty="0">
                <a:solidFill>
                  <a:srgbClr val="3C3C41"/>
                </a:solidFill>
                <a:latin typeface="Mulish"/>
                <a:ea typeface="Mulish"/>
                <a:cs typeface="Mulish"/>
              </a:rPr>
              <a:t>A dropout's full blast radius (here 3 jobs, 1 part hold and the SLA exposure) appears in under 5 seconds instead of hours later.</a:t>
            </a:r>
          </a:p>
          <a:p>
            <a:pPr>
              <a:spcBef>
                <a:spcPts val="200"/>
              </a:spcBef>
              <a:defRPr sz="850" b="0">
                <a:solidFill>
                  <a:srgbClr val="3C3C41"/>
                </a:solidFill>
                <a:latin typeface="Mulish"/>
                <a:ea typeface="Mulish"/>
                <a:cs typeface="Mulish"/>
              </a:defRPr>
            </a:pPr>
            <a:r>
              <a:rPr lang="en-US" sz="850" b="0" dirty="0">
                <a:solidFill>
                  <a:srgbClr val="3C3C41"/>
                </a:solidFill>
                <a:latin typeface="Mulish"/>
                <a:ea typeface="Mulish"/>
                <a:cs typeface="Mulish"/>
              </a:rPr>
              <a:t>Two jobs can never claim the same part.</a:t>
            </a:r>
          </a:p>
          <a:p>
            <a:pPr>
              <a:spcBef>
                <a:spcPts val="200"/>
              </a:spcBef>
              <a:defRPr sz="850" b="0">
                <a:solidFill>
                  <a:srgbClr val="3C3C41"/>
                </a:solidFill>
                <a:latin typeface="Mulish"/>
                <a:ea typeface="Mulish"/>
                <a:cs typeface="Mulish"/>
              </a:defRPr>
            </a:pPr>
            <a:r>
              <a:rPr lang="en-US" sz="850" b="0" dirty="0">
                <a:solidFill>
                  <a:srgbClr val="3C3C41"/>
                </a:solidFill>
                <a:latin typeface="Mulish"/>
                <a:ea typeface="Mulish"/>
                <a:cs typeface="Mulish"/>
              </a:rPr>
              <a:t>A false completion is blocked before closure, and the SLA is computed from events, so neither side can dispute the number.</a:t>
            </a:r>
          </a:p>
        </p:txBody>
      </p:sp>
      <p:sp>
        <p:nvSpPr>
          <p:cNvPr id="37" name="Rounded Rectangle 36"/>
          <p:cNvSpPr/>
          <p:nvPr/>
        </p:nvSpPr>
        <p:spPr>
          <a:xfrm>
            <a:off x="6492240" y="4846320"/>
            <a:ext cx="4572000" cy="16916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812280" y="47183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INNOVATION</a:t>
            </a:r>
          </a:p>
        </p:txBody>
      </p:sp>
      <p:sp>
        <p:nvSpPr>
          <p:cNvPr id="39" name="TextBox 38"/>
          <p:cNvSpPr txBox="1"/>
          <p:nvPr/>
        </p:nvSpPr>
        <p:spPr>
          <a:xfrm>
            <a:off x="6766560" y="5074920"/>
            <a:ext cx="4023360" cy="1352169"/>
          </a:xfrm>
          <a:prstGeom prst="rect">
            <a:avLst/>
          </a:prstGeom>
          <a:noFill/>
        </p:spPr>
        <p:txBody>
          <a:bodyPr wrap="square">
            <a:spAutoFit/>
          </a:bodyPr>
          <a:lstStyle/>
          <a:p>
            <a:pPr>
              <a:defRPr sz="1200" b="1">
                <a:solidFill>
                  <a:srgbClr val="353334"/>
                </a:solidFill>
                <a:latin typeface="Fjalla One"/>
                <a:ea typeface="Fjalla One"/>
                <a:cs typeface="Fjalla One"/>
              </a:defRPr>
            </a:pPr>
            <a:r>
              <a:rPr lang="en-US" sz="1200" b="1" dirty="0">
                <a:solidFill>
                  <a:srgbClr val="353334"/>
                </a:solidFill>
                <a:latin typeface="Fjalla One"/>
                <a:ea typeface="Fjalla One"/>
                <a:cs typeface="Fjalla One"/>
              </a:rPr>
              <a:t>WHAT IS DIFFERENT</a:t>
            </a:r>
          </a:p>
          <a:p>
            <a:pPr>
              <a:spcBef>
                <a:spcPts val="300"/>
              </a:spcBef>
              <a:defRPr sz="850" b="0">
                <a:solidFill>
                  <a:srgbClr val="3C3C41"/>
                </a:solidFill>
                <a:latin typeface="Mulish"/>
                <a:ea typeface="Mulish"/>
                <a:cs typeface="Mulish"/>
              </a:defRPr>
            </a:pPr>
            <a:r>
              <a:rPr lang="en-US" sz="850" b="0" dirty="0">
                <a:solidFill>
                  <a:srgbClr val="3C3C41"/>
                </a:solidFill>
                <a:latin typeface="Mulish"/>
                <a:ea typeface="Mulish"/>
                <a:cs typeface="Mulish"/>
              </a:rPr>
              <a:t>Four steps, one engine:</a:t>
            </a:r>
          </a:p>
          <a:p>
            <a:pPr marL="114300" indent="-114300">
              <a:spcBef>
                <a:spcPts val="150"/>
              </a:spcBef>
              <a:buClr>
                <a:srgbClr val="FD1485"/>
              </a:buClr>
              <a:buFont typeface="Arial"/>
              <a:buChar char="•"/>
              <a:defRPr sz="850" b="1">
                <a:solidFill>
                  <a:srgbClr val="353334"/>
                </a:solidFill>
                <a:latin typeface="Mulish"/>
                <a:ea typeface="Mulish"/>
                <a:cs typeface="Mulish"/>
              </a:defRPr>
            </a:pPr>
            <a:r>
              <a:rPr lang="en-US" sz="850" b="1" dirty="0">
                <a:solidFill>
                  <a:srgbClr val="353334"/>
                </a:solidFill>
                <a:latin typeface="Mulish"/>
                <a:ea typeface="Mulish"/>
                <a:cs typeface="Mulish"/>
              </a:rPr>
              <a:t>Ledger</a:t>
            </a:r>
            <a:r>
              <a:rPr lang="en-US" sz="850" b="0" dirty="0">
                <a:solidFill>
                  <a:srgbClr val="3C3C41"/>
                </a:solidFill>
                <a:latin typeface="Mulish"/>
                <a:ea typeface="Mulish"/>
                <a:cs typeface="Mulish"/>
              </a:rPr>
              <a:t> records every commitment, using double-entry for resources.</a:t>
            </a:r>
          </a:p>
          <a:p>
            <a:pPr marL="114300" indent="-114300">
              <a:spcBef>
                <a:spcPts val="150"/>
              </a:spcBef>
              <a:buClr>
                <a:srgbClr val="FD1485"/>
              </a:buClr>
              <a:buFont typeface="Arial"/>
              <a:buChar char="•"/>
              <a:defRPr sz="850" b="1">
                <a:solidFill>
                  <a:srgbClr val="353334"/>
                </a:solidFill>
                <a:latin typeface="Mulish"/>
                <a:ea typeface="Mulish"/>
                <a:cs typeface="Mulish"/>
              </a:defRPr>
            </a:pPr>
            <a:r>
              <a:rPr lang="en-US" sz="850" b="1" dirty="0">
                <a:solidFill>
                  <a:srgbClr val="353334"/>
                </a:solidFill>
                <a:latin typeface="Mulish"/>
                <a:ea typeface="Mulish"/>
                <a:cs typeface="Mulish"/>
              </a:rPr>
              <a:t>Cascade</a:t>
            </a:r>
            <a:r>
              <a:rPr lang="en-US" sz="850" b="0" dirty="0">
                <a:solidFill>
                  <a:srgbClr val="3C3C41"/>
                </a:solidFill>
                <a:latin typeface="Mulish"/>
                <a:ea typeface="Mulish"/>
                <a:cs typeface="Mulish"/>
              </a:rPr>
              <a:t> finds everything a broken commitment affects.</a:t>
            </a:r>
          </a:p>
          <a:p>
            <a:pPr marL="114300" indent="-114300">
              <a:spcBef>
                <a:spcPts val="150"/>
              </a:spcBef>
              <a:buClr>
                <a:srgbClr val="FD1485"/>
              </a:buClr>
              <a:buFont typeface="Arial"/>
              <a:buChar char="•"/>
              <a:defRPr sz="850" b="1">
                <a:solidFill>
                  <a:srgbClr val="353334"/>
                </a:solidFill>
                <a:latin typeface="Mulish"/>
                <a:ea typeface="Mulish"/>
                <a:cs typeface="Mulish"/>
              </a:defRPr>
            </a:pPr>
            <a:r>
              <a:rPr lang="en-US" sz="850" b="1" dirty="0">
                <a:solidFill>
                  <a:srgbClr val="353334"/>
                </a:solidFill>
                <a:latin typeface="Mulish"/>
                <a:ea typeface="Mulish"/>
                <a:cs typeface="Mulish"/>
              </a:rPr>
              <a:t>Recovery</a:t>
            </a:r>
            <a:r>
              <a:rPr lang="en-US" sz="850" b="0" dirty="0">
                <a:solidFill>
                  <a:srgbClr val="3C3C41"/>
                </a:solidFill>
                <a:latin typeface="Mulish"/>
                <a:ea typeface="Mulish"/>
                <a:cs typeface="Mulish"/>
              </a:rPr>
              <a:t> ranks safe plans that create no new conflicts.</a:t>
            </a:r>
          </a:p>
          <a:p>
            <a:pPr marL="114300" indent="-114300">
              <a:spcBef>
                <a:spcPts val="150"/>
              </a:spcBef>
              <a:buClr>
                <a:srgbClr val="FD1485"/>
              </a:buClr>
              <a:buFont typeface="Arial"/>
              <a:buChar char="•"/>
              <a:defRPr sz="850" b="1">
                <a:solidFill>
                  <a:srgbClr val="353334"/>
                </a:solidFill>
                <a:latin typeface="Mulish"/>
                <a:ea typeface="Mulish"/>
                <a:cs typeface="Mulish"/>
              </a:defRPr>
            </a:pPr>
            <a:r>
              <a:rPr lang="en-US" sz="850" b="1" dirty="0">
                <a:solidFill>
                  <a:srgbClr val="353334"/>
                </a:solidFill>
                <a:latin typeface="Mulish"/>
                <a:ea typeface="Mulish"/>
                <a:cs typeface="Mulish"/>
              </a:rPr>
              <a:t>Proof</a:t>
            </a:r>
            <a:r>
              <a:rPr lang="en-US" sz="850" b="0" dirty="0">
                <a:solidFill>
                  <a:srgbClr val="3C3C41"/>
                </a:solidFill>
                <a:latin typeface="Mulish"/>
                <a:ea typeface="Mulish"/>
                <a:cs typeface="Mulish"/>
              </a:rPr>
              <a:t> reconciles the report with store, check-in and machine records into a history the customer verifies.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ea typeface="Mulish"/>
                <a:cs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pPr>
              <a:defRPr sz="3600" b="1">
                <a:solidFill>
                  <a:srgbClr val="FD1485"/>
                </a:solidFill>
                <a:latin typeface="Fjalla One"/>
                <a:ea typeface="Fjalla One"/>
                <a:cs typeface="Fjalla One"/>
              </a:defRPr>
            </a:pPr>
            <a:r>
              <a:rPr sz="3600" b="1">
                <a:solidFill>
                  <a:srgbClr val="FD1485"/>
                </a:solidFill>
                <a:latin typeface="Fjalla One"/>
                <a:ea typeface="Fjalla One"/>
                <a:cs typeface="Fjalla One"/>
              </a:rPr>
              <a:t>04  </a:t>
            </a:r>
            <a:r>
              <a:rPr sz="3200" b="1">
                <a:solidFill>
                  <a:srgbClr val="353334"/>
                </a:solidFill>
                <a:latin typeface="Fjalla One"/>
                <a:ea typeface="Fjalla One"/>
                <a:cs typeface="Fjalla One"/>
              </a:rPr>
              <a:t>System Architecture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ea typeface="Mulish"/>
                <a:cs typeface="Mulish"/>
              </a:defRPr>
            </a:pPr>
            <a:r>
              <a:t>System diagram is the primary visual · Engineering decisions · Validation</a:t>
            </a:r>
          </a:p>
        </p:txBody>
      </p:sp>
      <p:sp>
        <p:nvSpPr>
          <p:cNvPr id="24" name="Rounded Rectangle 23"/>
          <p:cNvSpPr/>
          <p:nvPr/>
        </p:nvSpPr>
        <p:spPr>
          <a:xfrm>
            <a:off x="1645920" y="2011680"/>
            <a:ext cx="941832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SYSTEM DIAGRAM</a:t>
            </a:r>
          </a:p>
        </p:txBody>
      </p:sp>
      <p:sp>
        <p:nvSpPr>
          <p:cNvPr id="26" name="Rounded Rectangle 25"/>
          <p:cNvSpPr/>
          <p:nvPr/>
        </p:nvSpPr>
        <p:spPr>
          <a:xfrm>
            <a:off x="1920240" y="2331720"/>
            <a:ext cx="8869680" cy="2148840"/>
          </a:xfrm>
          <a:prstGeom prst="roundRect">
            <a:avLst>
              <a:gd name="adj" fmla="val 3500"/>
            </a:avLst>
          </a:prstGeom>
          <a:solidFill>
            <a:srgbClr val="FFFFF1"/>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Step LEDGER"/>
          <p:cNvSpPr/>
          <p:nvPr/>
        </p:nvSpPr>
        <p:spPr>
          <a:xfrm>
            <a:off x="2103120" y="2450000"/>
            <a:ext cx="1900000" cy="340000"/>
          </a:xfrm>
          <a:prstGeom prst="roundRect">
            <a:avLst>
              <a:gd name="adj" fmla="val 20000"/>
            </a:avLst>
          </a:prstGeom>
          <a:solidFill>
            <a:srgbClr val="FFFFFF"/>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LEDGER</a:t>
            </a:r>
          </a:p>
        </p:txBody>
      </p:sp>
      <p:sp>
        <p:nvSpPr>
          <p:cNvPr id="301" name="Example LEDGER"/>
          <p:cNvSpPr/>
          <p:nvPr/>
        </p:nvSpPr>
        <p:spPr>
          <a:xfrm>
            <a:off x="2103120" y="2880000"/>
            <a:ext cx="1900000" cy="640000"/>
          </a:xfrm>
          <a:prstGeom prst="roundRect">
            <a:avLst>
              <a:gd name="adj" fmla="val 8000"/>
            </a:avLst>
          </a:prstGeom>
          <a:solidFill>
            <a:srgbClr val="FFFFFF"/>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defRPr sz="900" b="0">
                <a:solidFill>
                  <a:srgbClr val="3C3C41"/>
                </a:solidFill>
                <a:latin typeface="Mulish"/>
                <a:ea typeface="Mulish"/>
                <a:cs typeface="Mulish"/>
              </a:defRPr>
            </a:pPr>
            <a:r>
              <a:rPr lang="en-US" sz="900" b="0" dirty="0">
                <a:solidFill>
                  <a:srgbClr val="3C3C41"/>
                </a:solidFill>
                <a:latin typeface="Mulish"/>
                <a:ea typeface="Mulish"/>
                <a:cs typeface="Mulish"/>
              </a:rPr>
              <a:t>Ravi's time, seal kit HS-40, 13:02 SLA, plant permit</a:t>
            </a:r>
          </a:p>
        </p:txBody>
      </p:sp>
      <p:sp>
        <p:nvSpPr>
          <p:cNvPr id="302" name="Tool LEDGER"/>
          <p:cNvSpPr/>
          <p:nvPr/>
        </p:nvSpPr>
        <p:spPr>
          <a:xfrm>
            <a:off x="2103120" y="3600000"/>
            <a:ext cx="1900000" cy="260000"/>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750" b="1">
                <a:solidFill>
                  <a:srgbClr val="353334"/>
                </a:solidFill>
                <a:latin typeface="Mulish"/>
                <a:ea typeface="Mulish"/>
                <a:cs typeface="Mulish"/>
              </a:defRPr>
            </a:pPr>
            <a:r>
              <a:rPr lang="en-US" sz="750" b="1" dirty="0">
                <a:solidFill>
                  <a:srgbClr val="353334"/>
                </a:solidFill>
                <a:latin typeface="Mulish"/>
                <a:ea typeface="Mulish"/>
                <a:cs typeface="Mulish"/>
              </a:rPr>
              <a:t>PostgreSQL · double-entry · row locks</a:t>
            </a:r>
          </a:p>
        </p:txBody>
      </p:sp>
      <p:cxnSp>
        <p:nvCxnSpPr>
          <p:cNvPr id="303" name="Arrow 1"/>
          <p:cNvCxnSpPr/>
          <p:nvPr/>
        </p:nvCxnSpPr>
        <p:spPr>
          <a:xfrm>
            <a:off x="4043120" y="2620000"/>
            <a:ext cx="221307" cy="0"/>
          </a:xfrm>
          <a:prstGeom prst="line">
            <a:avLst/>
          </a:prstGeom>
          <a:ln w="15240">
            <a:solidFill>
              <a:srgbClr val="353334"/>
            </a:solidFill>
            <a:tailEnd type="triangle" w="med" len="med"/>
          </a:ln>
        </p:spPr>
      </p:cxnSp>
      <p:sp>
        <p:nvSpPr>
          <p:cNvPr id="304" name="Step CASCADE"/>
          <p:cNvSpPr/>
          <p:nvPr/>
        </p:nvSpPr>
        <p:spPr>
          <a:xfrm>
            <a:off x="4304427" y="2450000"/>
            <a:ext cx="1900000" cy="340000"/>
          </a:xfrm>
          <a:prstGeom prst="roundRect">
            <a:avLst>
              <a:gd name="adj" fmla="val 20000"/>
            </a:avLst>
          </a:prstGeom>
          <a:solidFill>
            <a:srgbClr val="FD1485"/>
          </a:solidFill>
          <a:ln w="15240">
            <a:solidFill>
              <a:srgbClr val="FD1485"/>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defRPr sz="1100" b="1">
                <a:solidFill>
                  <a:srgbClr val="FFFFFF"/>
                </a:solidFill>
                <a:latin typeface="Fjalla One"/>
                <a:ea typeface="Fjalla One"/>
                <a:cs typeface="Fjalla One"/>
              </a:defRPr>
            </a:pPr>
            <a:r>
              <a:rPr lang="en-US" sz="1100" b="1" dirty="0">
                <a:solidFill>
                  <a:srgbClr val="FFFFFF"/>
                </a:solidFill>
                <a:latin typeface="Fjalla One"/>
                <a:ea typeface="Fjalla One"/>
                <a:cs typeface="Fjalla One"/>
              </a:rPr>
              <a:t>CASCADE</a:t>
            </a:r>
          </a:p>
        </p:txBody>
      </p:sp>
      <p:sp>
        <p:nvSpPr>
          <p:cNvPr id="305" name="Example CASCADE"/>
          <p:cNvSpPr/>
          <p:nvPr/>
        </p:nvSpPr>
        <p:spPr>
          <a:xfrm>
            <a:off x="4304427" y="2880000"/>
            <a:ext cx="1900000" cy="640000"/>
          </a:xfrm>
          <a:prstGeom prst="roundRect">
            <a:avLst>
              <a:gd name="adj" fmla="val 8000"/>
            </a:avLst>
          </a:prstGeom>
          <a:solidFill>
            <a:srgbClr val="FFFFFF"/>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defRPr sz="900" b="0">
                <a:solidFill>
                  <a:srgbClr val="3C3C41"/>
                </a:solidFill>
                <a:latin typeface="Mulish"/>
                <a:ea typeface="Mulish"/>
                <a:cs typeface="Mulish"/>
              </a:defRPr>
            </a:pPr>
            <a:r>
              <a:rPr lang="en-US" sz="900" b="0" dirty="0">
                <a:solidFill>
                  <a:srgbClr val="3C3C41"/>
                </a:solidFill>
                <a:latin typeface="Mulish"/>
                <a:ea typeface="Mulish"/>
                <a:cs typeface="Mulish"/>
              </a:rPr>
              <a:t>Ravi drops out: 3 jobs and 1 part hold affected</a:t>
            </a:r>
          </a:p>
        </p:txBody>
      </p:sp>
      <p:sp>
        <p:nvSpPr>
          <p:cNvPr id="306" name="Tool CASCADE"/>
          <p:cNvSpPr/>
          <p:nvPr/>
        </p:nvSpPr>
        <p:spPr>
          <a:xfrm>
            <a:off x="4304427" y="3600000"/>
            <a:ext cx="1900000" cy="260000"/>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750" b="1">
                <a:solidFill>
                  <a:srgbClr val="353334"/>
                </a:solidFill>
                <a:latin typeface="Mulish"/>
                <a:ea typeface="Mulish"/>
                <a:cs typeface="Mulish"/>
              </a:defRPr>
            </a:pPr>
            <a:r>
              <a:rPr lang="en-US" sz="750" b="1" dirty="0">
                <a:solidFill>
                  <a:srgbClr val="353334"/>
                </a:solidFill>
                <a:latin typeface="Mulish"/>
                <a:ea typeface="Mulish"/>
                <a:cs typeface="Mulish"/>
              </a:rPr>
              <a:t>Graph walk · brute-force oracle</a:t>
            </a:r>
          </a:p>
        </p:txBody>
      </p:sp>
      <p:cxnSp>
        <p:nvCxnSpPr>
          <p:cNvPr id="307" name="Arrow 2"/>
          <p:cNvCxnSpPr/>
          <p:nvPr/>
        </p:nvCxnSpPr>
        <p:spPr>
          <a:xfrm>
            <a:off x="6244427" y="2620000"/>
            <a:ext cx="221307" cy="0"/>
          </a:xfrm>
          <a:prstGeom prst="line">
            <a:avLst/>
          </a:prstGeom>
          <a:ln w="15240">
            <a:solidFill>
              <a:srgbClr val="353334"/>
            </a:solidFill>
            <a:tailEnd type="triangle" w="med" len="med"/>
          </a:ln>
        </p:spPr>
      </p:cxnSp>
      <p:sp>
        <p:nvSpPr>
          <p:cNvPr id="308" name="Step RECOVERY"/>
          <p:cNvSpPr/>
          <p:nvPr/>
        </p:nvSpPr>
        <p:spPr>
          <a:xfrm>
            <a:off x="6505734" y="2450000"/>
            <a:ext cx="1900000" cy="340000"/>
          </a:xfrm>
          <a:prstGeom prst="roundRect">
            <a:avLst>
              <a:gd name="adj" fmla="val 20000"/>
            </a:avLst>
          </a:prstGeom>
          <a:solidFill>
            <a:srgbClr val="FFFFFF"/>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RECOVERY</a:t>
            </a:r>
          </a:p>
        </p:txBody>
      </p:sp>
      <p:sp>
        <p:nvSpPr>
          <p:cNvPr id="309" name="Example RECOVERY"/>
          <p:cNvSpPr/>
          <p:nvPr/>
        </p:nvSpPr>
        <p:spPr>
          <a:xfrm>
            <a:off x="6505734" y="2880000"/>
            <a:ext cx="1900000" cy="640000"/>
          </a:xfrm>
          <a:prstGeom prst="roundRect">
            <a:avLst>
              <a:gd name="adj" fmla="val 8000"/>
            </a:avLst>
          </a:prstGeom>
          <a:solidFill>
            <a:srgbClr val="FFFFFF"/>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defRPr sz="900" b="0">
                <a:solidFill>
                  <a:srgbClr val="3C3C41"/>
                </a:solidFill>
                <a:latin typeface="Mulish"/>
                <a:ea typeface="Mulish"/>
                <a:cs typeface="Mulish"/>
              </a:defRPr>
            </a:pPr>
            <a:r>
              <a:rPr lang="en-US" sz="900" b="0" dirty="0">
                <a:solidFill>
                  <a:srgbClr val="3C3C41"/>
                </a:solidFill>
                <a:latin typeface="Mulish"/>
                <a:ea typeface="Mulish"/>
                <a:cs typeface="Mulish"/>
              </a:rPr>
              <a:t>Plan A: Priya, 0 SLA misses; unsafe options refused</a:t>
            </a:r>
          </a:p>
        </p:txBody>
      </p:sp>
      <p:sp>
        <p:nvSpPr>
          <p:cNvPr id="310" name="Tool RECOVERY"/>
          <p:cNvSpPr/>
          <p:nvPr/>
        </p:nvSpPr>
        <p:spPr>
          <a:xfrm>
            <a:off x="6505734" y="3600000"/>
            <a:ext cx="1900000" cy="260000"/>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750" b="1">
                <a:solidFill>
                  <a:srgbClr val="353334"/>
                </a:solidFill>
                <a:latin typeface="Mulish"/>
                <a:ea typeface="Mulish"/>
                <a:cs typeface="Mulish"/>
              </a:defRPr>
            </a:pPr>
            <a:r>
              <a:rPr lang="en-US" sz="750" b="1" dirty="0">
                <a:solidFill>
                  <a:srgbClr val="353334"/>
                </a:solidFill>
                <a:latin typeface="Mulish"/>
                <a:ea typeface="Mulish"/>
                <a:cs typeface="Mulish"/>
              </a:rPr>
              <a:t>SciPy solver · dry-run plans</a:t>
            </a:r>
          </a:p>
        </p:txBody>
      </p:sp>
      <p:cxnSp>
        <p:nvCxnSpPr>
          <p:cNvPr id="311" name="Arrow 3"/>
          <p:cNvCxnSpPr/>
          <p:nvPr/>
        </p:nvCxnSpPr>
        <p:spPr>
          <a:xfrm>
            <a:off x="8445734" y="2620000"/>
            <a:ext cx="221307" cy="0"/>
          </a:xfrm>
          <a:prstGeom prst="line">
            <a:avLst/>
          </a:prstGeom>
          <a:ln w="15240">
            <a:solidFill>
              <a:srgbClr val="353334"/>
            </a:solidFill>
            <a:tailEnd type="triangle" w="med" len="med"/>
          </a:ln>
        </p:spPr>
      </p:cxnSp>
      <p:sp>
        <p:nvSpPr>
          <p:cNvPr id="312" name="Step PROOF"/>
          <p:cNvSpPr/>
          <p:nvPr/>
        </p:nvSpPr>
        <p:spPr>
          <a:xfrm>
            <a:off x="8707041" y="2450000"/>
            <a:ext cx="1900000" cy="340000"/>
          </a:xfrm>
          <a:prstGeom prst="roundRect">
            <a:avLst>
              <a:gd name="adj" fmla="val 20000"/>
            </a:avLst>
          </a:prstGeom>
          <a:solidFill>
            <a:srgbClr val="FFFFFF"/>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PROOF</a:t>
            </a:r>
          </a:p>
        </p:txBody>
      </p:sp>
      <p:sp>
        <p:nvSpPr>
          <p:cNvPr id="313" name="Example PROOF"/>
          <p:cNvSpPr/>
          <p:nvPr/>
        </p:nvSpPr>
        <p:spPr>
          <a:xfrm>
            <a:off x="8707041" y="2880000"/>
            <a:ext cx="1900000" cy="640000"/>
          </a:xfrm>
          <a:prstGeom prst="roundRect">
            <a:avLst>
              <a:gd name="adj" fmla="val 8000"/>
            </a:avLst>
          </a:prstGeom>
          <a:solidFill>
            <a:srgbClr val="FFFFFF"/>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defRPr sz="900" b="0">
                <a:solidFill>
                  <a:srgbClr val="3C3C41"/>
                </a:solidFill>
                <a:latin typeface="Mulish"/>
                <a:ea typeface="Mulish"/>
                <a:cs typeface="Mulish"/>
              </a:defRPr>
            </a:pPr>
            <a:r>
              <a:rPr lang="en-US" sz="900" b="0" dirty="0">
                <a:solidFill>
                  <a:srgbClr val="3C3C41"/>
                </a:solidFill>
                <a:latin typeface="Mulish"/>
                <a:ea typeface="Mulish"/>
                <a:cs typeface="Mulish"/>
              </a:rPr>
              <a:t>Report vs store, check-in and telemetry → Machine Passport</a:t>
            </a:r>
          </a:p>
        </p:txBody>
      </p:sp>
      <p:sp>
        <p:nvSpPr>
          <p:cNvPr id="314" name="Tool PROOF"/>
          <p:cNvSpPr/>
          <p:nvPr/>
        </p:nvSpPr>
        <p:spPr>
          <a:xfrm>
            <a:off x="8707041" y="3600000"/>
            <a:ext cx="1900000" cy="260000"/>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750" b="1">
                <a:solidFill>
                  <a:srgbClr val="353334"/>
                </a:solidFill>
                <a:latin typeface="Mulish"/>
                <a:ea typeface="Mulish"/>
                <a:cs typeface="Mulish"/>
              </a:defRPr>
            </a:pPr>
            <a:r>
              <a:rPr lang="en-US" sz="750" b="1" dirty="0">
                <a:solidFill>
                  <a:srgbClr val="353334"/>
                </a:solidFill>
                <a:latin typeface="Mulish"/>
                <a:ea typeface="Mulish"/>
                <a:cs typeface="Mulish"/>
              </a:rPr>
              <a:t>Ed25519 sealed chain · verifier</a:t>
            </a:r>
          </a:p>
        </p:txBody>
      </p:sp>
      <p:sp>
        <p:nvSpPr>
          <p:cNvPr id="315" name="Stack strip"/>
          <p:cNvSpPr/>
          <p:nvPr/>
        </p:nvSpPr>
        <p:spPr>
          <a:xfrm>
            <a:off x="2103120" y="3960000"/>
            <a:ext cx="8503920" cy="420000"/>
          </a:xfrm>
          <a:prstGeom prst="roundRect">
            <a:avLst>
              <a:gd name="adj" fmla="val 15000"/>
            </a:avLst>
          </a:prstGeom>
          <a:solidFill>
            <a:srgbClr val="FFFFFF"/>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defRPr sz="900" b="1">
                <a:solidFill>
                  <a:srgbClr val="353334"/>
                </a:solidFill>
                <a:latin typeface="Fjalla One"/>
                <a:ea typeface="Fjalla One"/>
                <a:cs typeface="Fjalla One"/>
              </a:defRPr>
            </a:pPr>
            <a:r>
              <a:rPr lang="en-US" sz="900" b="1" dirty="0">
                <a:solidFill>
                  <a:srgbClr val="353334"/>
                </a:solidFill>
                <a:latin typeface="Fjalla One"/>
                <a:ea typeface="Fjalla One"/>
                <a:cs typeface="Fjalla One"/>
              </a:rPr>
              <a:t>CLIENTS</a:t>
            </a:r>
            <a:r>
              <a:rPr lang="en-US" sz="750" b="0" dirty="0">
                <a:solidFill>
                  <a:srgbClr val="3C3C41"/>
                </a:solidFill>
                <a:latin typeface="Mulish"/>
                <a:ea typeface="Mulish"/>
                <a:cs typeface="Mulish"/>
              </a:rPr>
              <a:t>  control room · Next.js offline technician app · customer portal</a:t>
            </a:r>
          </a:p>
          <a:p>
            <a:pPr algn="ctr">
              <a:defRPr sz="900" b="1">
                <a:solidFill>
                  <a:srgbClr val="353334"/>
                </a:solidFill>
                <a:latin typeface="Fjalla One"/>
                <a:ea typeface="Fjalla One"/>
                <a:cs typeface="Fjalla One"/>
              </a:defRPr>
            </a:pPr>
            <a:r>
              <a:rPr lang="en-US" sz="900" b="1" dirty="0">
                <a:solidFill>
                  <a:srgbClr val="353334"/>
                </a:solidFill>
                <a:latin typeface="Fjalla One"/>
                <a:ea typeface="Fjalla One"/>
                <a:cs typeface="Fjalla One"/>
              </a:rPr>
              <a:t>FASTAPI</a:t>
            </a:r>
            <a:r>
              <a:rPr lang="en-US" sz="750" b="0" dirty="0">
                <a:solidFill>
                  <a:srgbClr val="3C3C41"/>
                </a:solidFill>
                <a:latin typeface="Mulish"/>
                <a:ea typeface="Mulish"/>
                <a:cs typeface="Mulish"/>
              </a:rPr>
              <a:t>  command layer</a:t>
            </a:r>
            <a:r>
              <a:rPr lang="en-US" sz="900" b="1" dirty="0">
                <a:solidFill>
                  <a:srgbClr val="353334"/>
                </a:solidFill>
                <a:latin typeface="Fjalla One"/>
                <a:ea typeface="Fjalla One"/>
                <a:cs typeface="Fjalla One"/>
              </a:rPr>
              <a:t>   →   POSTGRESQL</a:t>
            </a:r>
            <a:r>
              <a:rPr lang="en-US" sz="750" b="0" dirty="0">
                <a:solidFill>
                  <a:srgbClr val="3C3C41"/>
                </a:solidFill>
                <a:latin typeface="Mulish"/>
                <a:ea typeface="Mulish"/>
                <a:cs typeface="Mulish"/>
              </a:rPr>
              <a:t>  ledger + sealed event chain + outbox</a:t>
            </a:r>
            <a:r>
              <a:rPr lang="en-US" sz="900" b="1" dirty="0">
                <a:solidFill>
                  <a:srgbClr val="353334"/>
                </a:solidFill>
                <a:latin typeface="Fjalla One"/>
                <a:ea typeface="Fjalla One"/>
                <a:cs typeface="Fjalla One"/>
              </a:rPr>
              <a:t>   →   ADAPTERS</a:t>
            </a:r>
            <a:r>
              <a:rPr lang="en-US" sz="750" b="0" dirty="0">
                <a:solidFill>
                  <a:srgbClr val="3C3C41"/>
                </a:solidFill>
                <a:latin typeface="Mulish"/>
                <a:ea typeface="Mulish"/>
                <a:cs typeface="Mulish"/>
              </a:rPr>
              <a:t>  telemetry, billing, anchoring</a:t>
            </a:r>
          </a:p>
        </p:txBody>
      </p:sp>
      <p:sp>
        <p:nvSpPr>
          <p:cNvPr id="28" name="Rounded Rectangle 27"/>
          <p:cNvSpPr/>
          <p:nvPr/>
        </p:nvSpPr>
        <p:spPr>
          <a:xfrm>
            <a:off x="1645920"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65960" y="4764024"/>
            <a:ext cx="219456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ea typeface="Mulish"/>
                <a:cs typeface="Mulish"/>
              </a:defRPr>
            </a:pPr>
            <a:r>
              <a:t>TECH 01 · LEDGER</a:t>
            </a:r>
          </a:p>
        </p:txBody>
      </p:sp>
      <p:sp>
        <p:nvSpPr>
          <p:cNvPr id="30" name="TextBox 29"/>
          <p:cNvSpPr txBox="1"/>
          <p:nvPr/>
        </p:nvSpPr>
        <p:spPr>
          <a:xfrm>
            <a:off x="1828800" y="5093208"/>
            <a:ext cx="2788920" cy="1221232"/>
          </a:xfrm>
          <a:prstGeom prst="rect">
            <a:avLst/>
          </a:prstGeom>
          <a:noFill/>
        </p:spPr>
        <p:txBody>
          <a:bodyPr wrap="square">
            <a:spAutoFit/>
          </a:bodyPr>
          <a:lstStyle/>
          <a:p>
            <a:pP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KEY TECHNICAL DECISION</a:t>
            </a:r>
          </a:p>
          <a:p>
            <a:pPr>
              <a:spcBef>
                <a:spcPts val="300"/>
              </a:spcBef>
              <a:defRPr sz="750" b="0">
                <a:solidFill>
                  <a:srgbClr val="3C3C41"/>
                </a:solidFill>
                <a:latin typeface="Mulish"/>
                <a:ea typeface="Mulish"/>
                <a:cs typeface="Mulish"/>
              </a:defRPr>
            </a:pPr>
            <a:r>
              <a:rPr lang="en-US" sz="750" b="0" dirty="0">
                <a:solidFill>
                  <a:srgbClr val="3C3C41"/>
                </a:solidFill>
                <a:latin typeface="Mulish"/>
                <a:ea typeface="Mulish"/>
                <a:cs typeface="Mulish"/>
              </a:rPr>
              <a:t>A double-entry ledger in PostgreSQL instead of an inventory table. Every movement is a balanced entry under a row lock, so double-booking is impossible by construction. The same database holds the events and the outbox, which gives us one moving part instead of four.</a:t>
            </a:r>
          </a:p>
        </p:txBody>
      </p:sp>
      <p:sp>
        <p:nvSpPr>
          <p:cNvPr id="31" name="Rounded Rectangle 30"/>
          <p:cNvSpPr/>
          <p:nvPr/>
        </p:nvSpPr>
        <p:spPr>
          <a:xfrm>
            <a:off x="4864608"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84648" y="4764024"/>
            <a:ext cx="219456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TECH 02 · CASCADE + RECOVERY</a:t>
            </a:r>
          </a:p>
        </p:txBody>
      </p:sp>
      <p:sp>
        <p:nvSpPr>
          <p:cNvPr id="33" name="TextBox 32"/>
          <p:cNvSpPr txBox="1"/>
          <p:nvPr/>
        </p:nvSpPr>
        <p:spPr>
          <a:xfrm>
            <a:off x="5047488" y="5093208"/>
            <a:ext cx="2788920" cy="1333246"/>
          </a:xfrm>
          <a:prstGeom prst="rect">
            <a:avLst/>
          </a:prstGeom>
          <a:noFill/>
        </p:spPr>
        <p:txBody>
          <a:bodyPr wrap="square">
            <a:spAutoFit/>
          </a:bodyPr>
          <a:lstStyle/>
          <a:p>
            <a:pP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HARDEST PART</a:t>
            </a:r>
          </a:p>
          <a:p>
            <a:pPr>
              <a:spcBef>
                <a:spcPts val="300"/>
              </a:spcBef>
              <a:defRPr sz="750" b="0">
                <a:solidFill>
                  <a:srgbClr val="3C3C41"/>
                </a:solidFill>
                <a:latin typeface="Mulish"/>
                <a:ea typeface="Mulish"/>
                <a:cs typeface="Mulish"/>
              </a:defRPr>
            </a:pPr>
            <a:r>
              <a:rPr lang="en-US" sz="750" b="0" dirty="0">
                <a:solidFill>
                  <a:srgbClr val="3C3C41"/>
                </a:solidFill>
                <a:latin typeface="Mulish"/>
                <a:ea typeface="Mulish"/>
                <a:cs typeface="Mulish"/>
              </a:rPr>
              <a:t>Making history checkable without trusting us. An insider can rewrite an event, re-hash the whole chain and re-sign it. Our fix: the customer's verifier remembers every chain head it has accepted and flags any history that doesn't extend it.</a:t>
            </a:r>
          </a:p>
        </p:txBody>
      </p:sp>
      <p:sp>
        <p:nvSpPr>
          <p:cNvPr id="34" name="Rounded Rectangle 33"/>
          <p:cNvSpPr/>
          <p:nvPr/>
        </p:nvSpPr>
        <p:spPr>
          <a:xfrm>
            <a:off x="8083296" y="4892040"/>
            <a:ext cx="297180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403336" y="4764024"/>
            <a:ext cx="219456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TECH 03 · PROOF</a:t>
            </a:r>
          </a:p>
        </p:txBody>
      </p:sp>
      <p:sp>
        <p:nvSpPr>
          <p:cNvPr id="36" name="TextBox 35"/>
          <p:cNvSpPr txBox="1"/>
          <p:nvPr/>
        </p:nvSpPr>
        <p:spPr>
          <a:xfrm>
            <a:off x="8266176" y="5093208"/>
            <a:ext cx="2788920" cy="1409446"/>
          </a:xfrm>
          <a:prstGeom prst="rect">
            <a:avLst/>
          </a:prstGeom>
          <a:noFill/>
        </p:spPr>
        <p:txBody>
          <a:bodyPr wrap="square">
            <a:spAutoFit/>
          </a:bodyPr>
          <a:lstStyle/>
          <a:p>
            <a:pP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VALIDATION</a:t>
            </a:r>
          </a:p>
          <a:p>
            <a:pPr>
              <a:spcBef>
                <a:spcPts val="300"/>
              </a:spcBef>
              <a:defRPr sz="750" b="0">
                <a:solidFill>
                  <a:srgbClr val="3C3C41"/>
                </a:solidFill>
                <a:latin typeface="Mulish"/>
                <a:ea typeface="Mulish"/>
                <a:cs typeface="Mulish"/>
              </a:defRPr>
            </a:pPr>
            <a:r>
              <a:rPr lang="en-US" sz="750" b="0" dirty="0">
                <a:solidFill>
                  <a:srgbClr val="3C3C41"/>
                </a:solidFill>
                <a:latin typeface="Mulish"/>
                <a:ea typeface="Mulish"/>
                <a:cs typeface="Mulish"/>
              </a:rPr>
              <a:t>One command, </a:t>
            </a:r>
            <a:r>
              <a:rPr lang="en-US" sz="750" b="1" dirty="0">
                <a:solidFill>
                  <a:srgbClr val="3C3C41"/>
                </a:solidFill>
                <a:latin typeface="Mulish"/>
                <a:ea typeface="Mulish"/>
                <a:cs typeface="Mulish"/>
              </a:rPr>
              <a:t>make thesis</a:t>
            </a:r>
            <a:r>
              <a:rPr lang="en-US" sz="750" b="0" dirty="0">
                <a:solidFill>
                  <a:srgbClr val="3C3C41"/>
                </a:solidFill>
                <a:latin typeface="Mulish"/>
                <a:ea typeface="Mulish"/>
                <a:cs typeface="Mulish"/>
              </a:rPr>
              <a:t>, runs the full M-104 scenario:</a:t>
            </a:r>
          </a:p>
          <a:p>
            <a:pPr marL="114300" indent="-114300">
              <a:spcBef>
                <a:spcPts val="150"/>
              </a:spcBef>
              <a:buClr>
                <a:srgbClr val="FD1485"/>
              </a:buClr>
              <a:buFont typeface="Arial"/>
              <a:buChar char="•"/>
              <a:defRPr sz="750" b="0">
                <a:solidFill>
                  <a:srgbClr val="3C3C41"/>
                </a:solidFill>
                <a:latin typeface="Mulish"/>
                <a:ea typeface="Mulish"/>
                <a:cs typeface="Mulish"/>
              </a:defRPr>
            </a:pPr>
            <a:r>
              <a:rPr lang="en-US" sz="750" b="0" dirty="0">
                <a:solidFill>
                  <a:srgbClr val="3C3C41"/>
                </a:solidFill>
                <a:latin typeface="Mulish"/>
                <a:ea typeface="Mulish"/>
                <a:cs typeface="Mulish"/>
              </a:rPr>
              <a:t>A brute-force oracle confirms the cascade over 100 random seeds.</a:t>
            </a:r>
          </a:p>
          <a:p>
            <a:pPr marL="114300" indent="-114300">
              <a:spcBef>
                <a:spcPts val="150"/>
              </a:spcBef>
              <a:buClr>
                <a:srgbClr val="FD1485"/>
              </a:buClr>
              <a:buFont typeface="Arial"/>
              <a:buChar char="•"/>
              <a:defRPr sz="750" b="0">
                <a:solidFill>
                  <a:srgbClr val="3C3C41"/>
                </a:solidFill>
                <a:latin typeface="Mulish"/>
                <a:ea typeface="Mulish"/>
                <a:cs typeface="Mulish"/>
              </a:defRPr>
            </a:pPr>
            <a:r>
              <a:rPr lang="en-US" sz="750" b="0" dirty="0">
                <a:solidFill>
                  <a:srgbClr val="3C3C41"/>
                </a:solidFill>
                <a:latin typeface="Mulish"/>
                <a:ea typeface="Mulish"/>
                <a:cs typeface="Mulish"/>
              </a:rPr>
              <a:t>50 concurrent holds on the last part: exactly one succeeds.</a:t>
            </a:r>
          </a:p>
          <a:p>
            <a:pPr marL="114300" indent="-114300">
              <a:spcBef>
                <a:spcPts val="150"/>
              </a:spcBef>
              <a:buClr>
                <a:srgbClr val="FD1485"/>
              </a:buClr>
              <a:buFont typeface="Arial"/>
              <a:buChar char="•"/>
              <a:defRPr sz="750" b="0">
                <a:solidFill>
                  <a:srgbClr val="3C3C41"/>
                </a:solidFill>
                <a:latin typeface="Mulish"/>
                <a:ea typeface="Mulish"/>
                <a:cs typeface="Mulish"/>
              </a:defRPr>
            </a:pPr>
            <a:r>
              <a:rPr lang="en-US" sz="750" b="0" dirty="0">
                <a:solidFill>
                  <a:srgbClr val="3C3C41"/>
                </a:solidFill>
                <a:latin typeface="Mulish"/>
                <a:ea typeface="Mulish"/>
                <a:cs typeface="Mulish"/>
              </a:rPr>
              <a:t>Offline replay run twice produces no duplicates.</a:t>
            </a:r>
          </a:p>
          <a:p>
            <a:pPr marL="114300" indent="-114300">
              <a:spcBef>
                <a:spcPts val="150"/>
              </a:spcBef>
              <a:buClr>
                <a:srgbClr val="FD1485"/>
              </a:buClr>
              <a:buFont typeface="Arial"/>
              <a:buChar char="•"/>
              <a:defRPr sz="750" b="0">
                <a:solidFill>
                  <a:srgbClr val="3C3C41"/>
                </a:solidFill>
                <a:latin typeface="Mulish"/>
                <a:ea typeface="Mulish"/>
                <a:cs typeface="Mulish"/>
              </a:defRPr>
            </a:pPr>
            <a:r>
              <a:rPr lang="en-US" sz="750" b="0" dirty="0">
                <a:solidFill>
                  <a:srgbClr val="3C3C41"/>
                </a:solidFill>
                <a:latin typeface="Mulish"/>
                <a:ea typeface="Mulish"/>
                <a:cs typeface="Mulish"/>
              </a:rPr>
              <a:t>A re-signed tamper attempt is caught.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ea typeface="Mulish"/>
                <a:cs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pPr>
              <a:defRPr sz="3600" b="1">
                <a:solidFill>
                  <a:srgbClr val="FD1485"/>
                </a:solidFill>
                <a:latin typeface="Fjalla One"/>
                <a:ea typeface="Fjalla One"/>
                <a:cs typeface="Fjalla One"/>
              </a:defRPr>
            </a:pPr>
            <a:r>
              <a:rPr sz="3600" b="1">
                <a:solidFill>
                  <a:srgbClr val="FD1485"/>
                </a:solidFill>
                <a:latin typeface="Fjalla One"/>
                <a:ea typeface="Fjalla One"/>
                <a:cs typeface="Fjalla One"/>
              </a:rPr>
              <a:t>05  </a:t>
            </a:r>
            <a:r>
              <a:rPr sz="3200" b="1">
                <a:solidFill>
                  <a:srgbClr val="353334"/>
                </a:solidFill>
                <a:latin typeface="Fjalla One"/>
                <a:ea typeface="Fjalla One"/>
                <a:cs typeface="Fjalla One"/>
              </a:rPr>
              <a:t>Feasibility &amp; Scope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ea typeface="Mulish"/>
                <a:cs typeface="Mulish"/>
              </a:defRPr>
            </a:pPr>
            <a:r>
              <a:t>Concrete boundaries · Operational run rate · Risk mitigation · Post-hackathon plans</a:t>
            </a:r>
          </a:p>
        </p:txBody>
      </p:sp>
      <p:sp>
        <p:nvSpPr>
          <p:cNvPr id="24" name="Rounded Rectangle 23"/>
          <p:cNvSpPr/>
          <p:nvPr/>
        </p:nvSpPr>
        <p:spPr>
          <a:xfrm>
            <a:off x="164592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9293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01 · BOUNDARIES</a:t>
            </a:r>
          </a:p>
        </p:txBody>
      </p:sp>
      <p:sp>
        <p:nvSpPr>
          <p:cNvPr id="26" name="TextBox 25"/>
          <p:cNvSpPr txBox="1"/>
          <p:nvPr/>
        </p:nvSpPr>
        <p:spPr>
          <a:xfrm>
            <a:off x="1920240" y="2313432"/>
            <a:ext cx="4023360" cy="1790192"/>
          </a:xfrm>
          <a:prstGeom prst="rect">
            <a:avLst/>
          </a:prstGeom>
          <a:noFill/>
        </p:spPr>
        <p:txBody>
          <a:bodyPr wrap="square">
            <a:spAutoFit/>
          </a:bodyPr>
          <a:lstStyle/>
          <a:p>
            <a:pPr>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1. SCOPE</a:t>
            </a:r>
          </a:p>
          <a:p>
            <a:pPr>
              <a:spcBef>
                <a:spcPts val="400"/>
              </a:spcBef>
              <a:defRPr sz="900" b="1">
                <a:solidFill>
                  <a:srgbClr val="3C3C41"/>
                </a:solidFill>
                <a:latin typeface="Mulish"/>
                <a:ea typeface="Mulish"/>
                <a:cs typeface="Mulish"/>
              </a:defRPr>
            </a:pPr>
            <a:r>
              <a:rPr lang="en-US" sz="900" b="1" dirty="0">
                <a:solidFill>
                  <a:srgbClr val="3C3C41"/>
                </a:solidFill>
                <a:latin typeface="Mulish"/>
                <a:ea typeface="Mulish"/>
                <a:cs typeface="Mulish"/>
              </a:rPr>
              <a:t>In:</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The full request-to-closure lifecycle with roles.</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Commitment ledger, cascade and ranked recovery.</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Offline technician app.</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Three-way evidence reconciliation and the customer verifier.</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Simulated telemetry and a live billing adapter.</a:t>
            </a:r>
          </a:p>
          <a:p>
            <a:pPr>
              <a:spcBef>
                <a:spcPts val="200"/>
              </a:spcBef>
              <a:defRPr sz="900" b="1">
                <a:solidFill>
                  <a:srgbClr val="3C3C41"/>
                </a:solidFill>
                <a:latin typeface="Mulish"/>
                <a:ea typeface="Mulish"/>
                <a:cs typeface="Mulish"/>
              </a:defRPr>
            </a:pPr>
            <a:r>
              <a:rPr lang="en-US" sz="900" b="1" dirty="0">
                <a:solidFill>
                  <a:srgbClr val="3C3C41"/>
                </a:solidFill>
                <a:latin typeface="Mulish"/>
                <a:ea typeface="Mulish"/>
                <a:cs typeface="Mulish"/>
              </a:rPr>
              <a:t>Out:</a:t>
            </a:r>
            <a:r>
              <a:rPr lang="en-US" sz="900" b="0" dirty="0">
                <a:solidFill>
                  <a:srgbClr val="3C3C41"/>
                </a:solidFill>
                <a:latin typeface="Mulish"/>
                <a:ea typeface="Mulish"/>
                <a:cs typeface="Mulish"/>
              </a:rPr>
              <a:t> native apps, ERP integration, multi-stop routing, predictive failure models and real sensors.</a:t>
            </a:r>
          </a:p>
        </p:txBody>
      </p:sp>
      <p:sp>
        <p:nvSpPr>
          <p:cNvPr id="27" name="Rounded Rectangle 26"/>
          <p:cNvSpPr/>
          <p:nvPr/>
        </p:nvSpPr>
        <p:spPr>
          <a:xfrm>
            <a:off x="6492240" y="205740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9293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ea typeface="Mulish"/>
                <a:cs typeface="Mulish"/>
              </a:defRPr>
            </a:pPr>
            <a:r>
              <a:t>02 · ECONOMICS</a:t>
            </a:r>
          </a:p>
        </p:txBody>
      </p:sp>
      <p:sp>
        <p:nvSpPr>
          <p:cNvPr id="29" name="TextBox 28"/>
          <p:cNvSpPr txBox="1"/>
          <p:nvPr/>
        </p:nvSpPr>
        <p:spPr>
          <a:xfrm>
            <a:off x="6766560" y="2313432"/>
            <a:ext cx="4023360" cy="1462913"/>
          </a:xfrm>
          <a:prstGeom prst="rect">
            <a:avLst/>
          </a:prstGeom>
          <a:noFill/>
        </p:spPr>
        <p:txBody>
          <a:bodyPr wrap="square">
            <a:spAutoFit/>
          </a:bodyPr>
          <a:lstStyle/>
          <a:p>
            <a:pPr>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2. RUNNING COST</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One 2 vCPU / 4 GB cloud VM runs the whole stack in three containers (estimated INR 2,000–3,500 a month).</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Photos are the main storage cost.</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The LLM is optional: one cached explanation per breach.</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Against an illustrative INR 600 per technician per month, a 100-technician provider brings INR 60,000 of revenue, so infrastructure is a small fraction of it.</a:t>
            </a:r>
          </a:p>
        </p:txBody>
      </p:sp>
      <p:sp>
        <p:nvSpPr>
          <p:cNvPr id="30" name="Rounded Rectangle 29"/>
          <p:cNvSpPr/>
          <p:nvPr/>
        </p:nvSpPr>
        <p:spPr>
          <a:xfrm>
            <a:off x="164592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26110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03 · CONTINGENCY</a:t>
            </a:r>
          </a:p>
        </p:txBody>
      </p:sp>
      <p:sp>
        <p:nvSpPr>
          <p:cNvPr id="32" name="TextBox 31"/>
          <p:cNvSpPr txBox="1"/>
          <p:nvPr/>
        </p:nvSpPr>
        <p:spPr>
          <a:xfrm>
            <a:off x="1920240" y="4645152"/>
            <a:ext cx="4023360" cy="1678940"/>
          </a:xfrm>
          <a:prstGeom prst="rect">
            <a:avLst/>
          </a:prstGeom>
          <a:noFill/>
        </p:spPr>
        <p:txBody>
          <a:bodyPr wrap="square">
            <a:spAutoFit/>
          </a:bodyPr>
          <a:lstStyle/>
          <a:p>
            <a:pPr>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3. RISKS &amp; FALLBACK</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Offline sync errors:</a:t>
            </a:r>
            <a:r>
              <a:rPr lang="en-US" sz="900" b="0" dirty="0">
                <a:solidFill>
                  <a:srgbClr val="3C3C41"/>
                </a:solidFill>
                <a:latin typeface="Mulish"/>
                <a:ea typeface="Mulish"/>
                <a:cs typeface="Mulish"/>
              </a:rPr>
              <a:t> the server re-validates every replayed action, so the worst case is a rejected action, never a wrong balance.</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LLM down:</a:t>
            </a:r>
            <a:r>
              <a:rPr lang="en-US" sz="900" b="0" dirty="0">
                <a:solidFill>
                  <a:srgbClr val="3C3C41"/>
                </a:solidFill>
                <a:latin typeface="Mulish"/>
                <a:ea typeface="Mulish"/>
                <a:cs typeface="Mulish"/>
              </a:rPr>
              <a:t> plans still show, just without the explanation.</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Venue Wi-Fi fails:</a:t>
            </a:r>
            <a:r>
              <a:rPr lang="en-US" sz="900" b="0" dirty="0">
                <a:solidFill>
                  <a:srgbClr val="3C3C41"/>
                </a:solidFill>
                <a:latin typeface="Mulish"/>
                <a:ea typeface="Mulish"/>
                <a:cs typeface="Mulish"/>
              </a:rPr>
              <a:t> the stack runs on a laptop.</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Scope slips:</a:t>
            </a:r>
            <a:r>
              <a:rPr lang="en-US" sz="900" b="0" dirty="0">
                <a:solidFill>
                  <a:srgbClr val="3C3C41"/>
                </a:solidFill>
                <a:latin typeface="Mulish"/>
                <a:ea typeface="Mulish"/>
                <a:cs typeface="Mulish"/>
              </a:rPr>
              <a:t> go/no-go gates at hours 8 and 16, and only Tier 2 gets cut.</a:t>
            </a:r>
          </a:p>
        </p:txBody>
      </p:sp>
      <p:sp>
        <p:nvSpPr>
          <p:cNvPr id="33" name="Rounded Rectangle 32"/>
          <p:cNvSpPr/>
          <p:nvPr/>
        </p:nvSpPr>
        <p:spPr>
          <a:xfrm>
            <a:off x="6492240" y="4389120"/>
            <a:ext cx="4572000" cy="214884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812280" y="426110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rPr dirty="0"/>
              <a:t>04 · HORIZON</a:t>
            </a:r>
          </a:p>
        </p:txBody>
      </p:sp>
      <p:sp>
        <p:nvSpPr>
          <p:cNvPr id="35" name="TextBox 34"/>
          <p:cNvSpPr txBox="1"/>
          <p:nvPr/>
        </p:nvSpPr>
        <p:spPr>
          <a:xfrm>
            <a:off x="6766560" y="4645152"/>
            <a:ext cx="4023360" cy="1537970"/>
          </a:xfrm>
          <a:prstGeom prst="rect">
            <a:avLst/>
          </a:prstGeom>
          <a:noFill/>
        </p:spPr>
        <p:txBody>
          <a:bodyPr wrap="square">
            <a:spAutoFit/>
          </a:bodyPr>
          <a:lstStyle/>
          <a:p>
            <a:pPr>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4. AFTER THE HACKATHON</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A verify-mode overlay for teams already on ServiceNow or Zoho.</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WhatsApp intake for Indian field teams.</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Plant-controlled evidence (gate logs, plant telemetry).</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Domain packs for lifts, HVAC and solar O&amp;M.</a:t>
            </a:r>
          </a:p>
          <a:p>
            <a:pPr marL="114300" indent="-114300">
              <a:spcBef>
                <a:spcPts val="150"/>
              </a:spcBef>
              <a:buClr>
                <a:srgbClr val="FD1485"/>
              </a:buClr>
              <a:buFont typeface="Arial"/>
              <a:buChar char="•"/>
              <a:defRPr sz="900" b="0">
                <a:solidFill>
                  <a:srgbClr val="3C3C41"/>
                </a:solidFill>
                <a:latin typeface="Mulish"/>
                <a:ea typeface="Mulish"/>
                <a:cs typeface="Mulish"/>
              </a:defRPr>
            </a:pPr>
            <a:r>
              <a:rPr lang="en-US" sz="900" b="0" dirty="0">
                <a:solidFill>
                  <a:srgbClr val="3C3C41"/>
                </a:solidFill>
                <a:latin typeface="Mulish"/>
                <a:ea typeface="Mulish"/>
                <a:cs typeface="Mulish"/>
              </a:rPr>
              <a:t>Invoice financing on verified receivables via TReDS.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ea typeface="Mulish"/>
                <a:cs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pPr>
              <a:defRPr sz="3600" b="1">
                <a:solidFill>
                  <a:srgbClr val="FD1485"/>
                </a:solidFill>
                <a:latin typeface="Fjalla One"/>
                <a:ea typeface="Fjalla One"/>
                <a:cs typeface="Fjalla One"/>
              </a:defRPr>
            </a:pPr>
            <a:r>
              <a:rPr sz="3600" b="1">
                <a:solidFill>
                  <a:srgbClr val="FD1485"/>
                </a:solidFill>
                <a:latin typeface="Fjalla One"/>
                <a:ea typeface="Fjalla One"/>
                <a:cs typeface="Fjalla One"/>
              </a:rPr>
              <a:t>06  </a:t>
            </a:r>
            <a:r>
              <a:rPr sz="3200" b="1">
                <a:solidFill>
                  <a:srgbClr val="353334"/>
                </a:solidFill>
                <a:latin typeface="Fjalla One"/>
                <a:ea typeface="Fjalla One"/>
                <a:cs typeface="Fjalla One"/>
              </a:rPr>
              <a:t>Impact &amp; Metrics</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ea typeface="Mulish"/>
                <a:cs typeface="Mulish"/>
              </a:defRPr>
            </a:pPr>
            <a:r>
              <a:t>Primary measurable impact · Transparent calculation · Stakeholder advantages</a:t>
            </a:r>
          </a:p>
        </p:txBody>
      </p:sp>
      <p:sp>
        <p:nvSpPr>
          <p:cNvPr id="24" name="Rounded Rectangle 23"/>
          <p:cNvSpPr/>
          <p:nvPr/>
        </p:nvSpPr>
        <p:spPr>
          <a:xfrm>
            <a:off x="1645920" y="2011680"/>
            <a:ext cx="9418320" cy="182880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PRIMARY METRIC</a:t>
            </a:r>
          </a:p>
        </p:txBody>
      </p:sp>
      <p:sp>
        <p:nvSpPr>
          <p:cNvPr id="26" name="TextBox 25"/>
          <p:cNvSpPr txBox="1"/>
          <p:nvPr/>
        </p:nvSpPr>
        <p:spPr>
          <a:xfrm>
            <a:off x="1920240" y="2194560"/>
            <a:ext cx="4114800" cy="1361440"/>
          </a:xfrm>
          <a:prstGeom prst="rect">
            <a:avLst/>
          </a:prstGeom>
          <a:noFill/>
        </p:spPr>
        <p:txBody>
          <a:bodyPr wrap="square">
            <a:spAutoFit/>
          </a:bodyPr>
          <a:lstStyle/>
          <a:p>
            <a:pPr>
              <a:defRPr sz="4600" b="1">
                <a:solidFill>
                  <a:srgbClr val="FD1485"/>
                </a:solidFill>
                <a:latin typeface="Fjalla One"/>
                <a:ea typeface="Fjalla One"/>
                <a:cs typeface="Fjalla One"/>
              </a:defRPr>
            </a:pPr>
            <a:r>
              <a:rPr lang="en-US" sz="4600" b="1" dirty="0">
                <a:solidFill>
                  <a:srgbClr val="FD1485"/>
                </a:solidFill>
                <a:latin typeface="Fjalla One"/>
                <a:ea typeface="Fjalla One"/>
                <a:cs typeface="Fjalla One"/>
              </a:rPr>
              <a:t>&lt; 5 sec</a:t>
            </a:r>
          </a:p>
          <a:p>
            <a:pPr>
              <a:spcBef>
                <a:spcPts val="200"/>
              </a:spcBef>
              <a:defRPr sz="1200" b="1">
                <a:solidFill>
                  <a:srgbClr val="353334"/>
                </a:solidFill>
                <a:latin typeface="Fjalla One"/>
                <a:ea typeface="Fjalla One"/>
                <a:cs typeface="Fjalla One"/>
              </a:defRPr>
            </a:pPr>
            <a:r>
              <a:rPr lang="en-US" sz="1200" b="1" dirty="0">
                <a:solidFill>
                  <a:srgbClr val="353334"/>
                </a:solidFill>
                <a:latin typeface="Fjalla One"/>
                <a:ea typeface="Fjalla One"/>
                <a:cs typeface="Fjalla One"/>
              </a:rPr>
              <a:t>From a technician dropout to the full blast radius and a ranked, conflict-free recovery plan</a:t>
            </a:r>
          </a:p>
        </p:txBody>
      </p:sp>
      <p:sp>
        <p:nvSpPr>
          <p:cNvPr id="27" name="TextBox 26"/>
          <p:cNvSpPr txBox="1"/>
          <p:nvPr/>
        </p:nvSpPr>
        <p:spPr>
          <a:xfrm>
            <a:off x="6217920" y="2286000"/>
            <a:ext cx="4572000" cy="1322070"/>
          </a:xfrm>
          <a:prstGeom prst="rect">
            <a:avLst/>
          </a:prstGeom>
          <a:noFill/>
        </p:spPr>
        <p:txBody>
          <a:bodyPr wrap="square">
            <a:spAutoFit/>
          </a:bodyPr>
          <a:lstStyle/>
          <a:p>
            <a:pPr>
              <a:defRPr sz="1200" b="1">
                <a:solidFill>
                  <a:srgbClr val="353334"/>
                </a:solidFill>
                <a:latin typeface="Fjalla One"/>
                <a:ea typeface="Fjalla One"/>
                <a:cs typeface="Fjalla One"/>
              </a:defRPr>
            </a:pPr>
            <a:r>
              <a:rPr lang="en-US" sz="1200" b="1" dirty="0">
                <a:solidFill>
                  <a:srgbClr val="353334"/>
                </a:solidFill>
                <a:latin typeface="Fjalla One"/>
                <a:ea typeface="Fjalla One"/>
                <a:cs typeface="Fjalla One"/>
              </a:rPr>
              <a:t>HOW IT WAS MEASURED</a:t>
            </a:r>
          </a:p>
          <a:p>
            <a:pPr marL="114300" indent="-114300">
              <a:spcBef>
                <a:spcPts val="150"/>
              </a:spcBef>
              <a:buClr>
                <a:srgbClr val="FD1485"/>
              </a:buClr>
              <a:buFont typeface="Arial"/>
              <a:buChar char="•"/>
              <a:defRPr sz="1000" b="0">
                <a:solidFill>
                  <a:srgbClr val="3C3C41"/>
                </a:solidFill>
                <a:latin typeface="Mulish"/>
                <a:ea typeface="Mulish"/>
                <a:cs typeface="Mulish"/>
              </a:defRPr>
            </a:pPr>
            <a:r>
              <a:rPr lang="en-US" sz="1000" b="0" dirty="0">
                <a:solidFill>
                  <a:srgbClr val="3C3C41"/>
                </a:solidFill>
                <a:latin typeface="Mulish"/>
                <a:ea typeface="Mulish"/>
                <a:cs typeface="Mulish"/>
              </a:rPr>
              <a:t>Timed by the thesis test on the M-104 scenario: 12 dependent commitments walked, 3 jobs and 1 part hold found.</a:t>
            </a:r>
          </a:p>
          <a:p>
            <a:pPr marL="114300" indent="-114300">
              <a:spcBef>
                <a:spcPts val="150"/>
              </a:spcBef>
              <a:buClr>
                <a:srgbClr val="FD1485"/>
              </a:buClr>
              <a:buFont typeface="Arial"/>
              <a:buChar char="•"/>
              <a:defRPr sz="1000" b="0">
                <a:solidFill>
                  <a:srgbClr val="3C3C41"/>
                </a:solidFill>
                <a:latin typeface="Mulish"/>
                <a:ea typeface="Mulish"/>
                <a:cs typeface="Mulish"/>
              </a:defRPr>
            </a:pPr>
            <a:r>
              <a:rPr lang="en-US" sz="1000" b="0" dirty="0">
                <a:solidFill>
                  <a:srgbClr val="3C3C41"/>
                </a:solidFill>
                <a:latin typeface="Mulish"/>
                <a:ea typeface="Mulish"/>
                <a:cs typeface="Mulish"/>
              </a:rPr>
              <a:t>The same result is checked against a brute-force oracle that recomputes every open job over 100 random seeds, so nothing recorded is missed.</a:t>
            </a:r>
          </a:p>
          <a:p>
            <a:pPr marL="114300" indent="-114300">
              <a:spcBef>
                <a:spcPts val="150"/>
              </a:spcBef>
              <a:buClr>
                <a:srgbClr val="FD1485"/>
              </a:buClr>
              <a:buFont typeface="Arial"/>
              <a:buChar char="•"/>
              <a:defRPr sz="1000" b="0">
                <a:solidFill>
                  <a:srgbClr val="3C3C41"/>
                </a:solidFill>
                <a:latin typeface="Mulish"/>
                <a:ea typeface="Mulish"/>
                <a:cs typeface="Mulish"/>
              </a:defRPr>
            </a:pPr>
            <a:r>
              <a:rPr lang="en-US" sz="1000" b="0" dirty="0">
                <a:solidFill>
                  <a:srgbClr val="3C3C41"/>
                </a:solidFill>
                <a:latin typeface="Mulish"/>
                <a:ea typeface="Mulish"/>
                <a:cs typeface="Mulish"/>
              </a:rPr>
              <a:t>Today, that impact is found when the SLA is already missed.</a:t>
            </a:r>
          </a:p>
        </p:txBody>
      </p:sp>
      <p:sp>
        <p:nvSpPr>
          <p:cNvPr id="28" name="Rounded Rectangle 27"/>
          <p:cNvSpPr/>
          <p:nvPr/>
        </p:nvSpPr>
        <p:spPr>
          <a:xfrm>
            <a:off x="1645920"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965960" y="398678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IMPACT 01</a:t>
            </a:r>
          </a:p>
        </p:txBody>
      </p:sp>
      <p:sp>
        <p:nvSpPr>
          <p:cNvPr id="30" name="TextBox 29"/>
          <p:cNvSpPr txBox="1"/>
          <p:nvPr/>
        </p:nvSpPr>
        <p:spPr>
          <a:xfrm>
            <a:off x="1828800" y="4343400"/>
            <a:ext cx="2606040" cy="2060829"/>
          </a:xfrm>
          <a:prstGeom prst="rect">
            <a:avLst/>
          </a:prstGeom>
          <a:noFill/>
        </p:spPr>
        <p:txBody>
          <a:bodyPr wrap="square">
            <a:spAutoFit/>
          </a:bodyPr>
          <a:lstStyle/>
          <a:p>
            <a:pP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WHAT IMPROVES</a:t>
            </a:r>
          </a:p>
          <a:p>
            <a:pPr>
              <a:spcBef>
                <a:spcPts val="400"/>
              </a:spcBef>
              <a:defRPr sz="900" b="1">
                <a:solidFill>
                  <a:srgbClr val="FD1485"/>
                </a:solidFill>
                <a:latin typeface="Mulish"/>
                <a:ea typeface="Mulish"/>
                <a:cs typeface="Mulish"/>
              </a:defRPr>
            </a:pPr>
            <a:r>
              <a:rPr lang="en-US" sz="900" b="1" dirty="0">
                <a:solidFill>
                  <a:srgbClr val="FD1485"/>
                </a:solidFill>
                <a:latin typeface="Mulish"/>
                <a:ea typeface="Mulish"/>
                <a:cs typeface="Mulish"/>
              </a:rPr>
              <a:t>BEFORE</a:t>
            </a:r>
            <a:r>
              <a:rPr lang="en-US" sz="900" b="0" dirty="0">
                <a:solidFill>
                  <a:srgbClr val="3C3C41"/>
                </a:solidFill>
                <a:latin typeface="Mulish"/>
                <a:ea typeface="Mulish"/>
                <a:cs typeface="Mulish"/>
              </a:rPr>
              <a:t>  Dropout impact found when SLAs fail</a:t>
            </a:r>
            <a:br>
              <a:rPr lang="en-US" sz="900"/>
            </a:br>
            <a:r>
              <a:rPr lang="en-US" sz="900" b="1" dirty="0">
                <a:solidFill>
                  <a:srgbClr val="079ED2"/>
                </a:solidFill>
                <a:latin typeface="Mulish"/>
                <a:ea typeface="Mulish"/>
                <a:cs typeface="Mulish"/>
              </a:rPr>
              <a:t>AFTER</a:t>
            </a:r>
            <a:r>
              <a:rPr lang="en-US" sz="900" b="0" dirty="0">
                <a:solidFill>
                  <a:srgbClr val="3C3C41"/>
                </a:solidFill>
                <a:latin typeface="Mulish"/>
                <a:ea typeface="Mulish"/>
                <a:cs typeface="Mulish"/>
              </a:rPr>
              <a:t>  Seen in seconds</a:t>
            </a:r>
          </a:p>
          <a:p>
            <a:pPr>
              <a:spcBef>
                <a:spcPts val="200"/>
              </a:spcBef>
              <a:defRPr sz="900" b="1">
                <a:solidFill>
                  <a:srgbClr val="FD1485"/>
                </a:solidFill>
                <a:latin typeface="Mulish"/>
                <a:ea typeface="Mulish"/>
                <a:cs typeface="Mulish"/>
              </a:defRPr>
            </a:pPr>
            <a:r>
              <a:rPr lang="en-US" sz="900" b="1" dirty="0">
                <a:solidFill>
                  <a:srgbClr val="FD1485"/>
                </a:solidFill>
                <a:latin typeface="Mulish"/>
                <a:ea typeface="Mulish"/>
                <a:cs typeface="Mulish"/>
              </a:rPr>
              <a:t>BEFORE</a:t>
            </a:r>
            <a:r>
              <a:rPr lang="en-US" sz="900" b="0" dirty="0">
                <a:solidFill>
                  <a:srgbClr val="3C3C41"/>
                </a:solidFill>
                <a:latin typeface="Mulish"/>
                <a:ea typeface="Mulish"/>
                <a:cs typeface="Mulish"/>
              </a:rPr>
              <a:t>  Jobs close on the technician's word</a:t>
            </a:r>
            <a:br>
              <a:rPr lang="en-US" sz="900"/>
            </a:br>
            <a:r>
              <a:rPr lang="en-US" sz="900" b="1" dirty="0">
                <a:solidFill>
                  <a:srgbClr val="079ED2"/>
                </a:solidFill>
                <a:latin typeface="Mulish"/>
                <a:ea typeface="Mulish"/>
                <a:cs typeface="Mulish"/>
              </a:rPr>
              <a:t>AFTER</a:t>
            </a:r>
            <a:r>
              <a:rPr lang="en-US" sz="900" b="0" dirty="0">
                <a:solidFill>
                  <a:srgbClr val="3C3C41"/>
                </a:solidFill>
                <a:latin typeface="Mulish"/>
                <a:ea typeface="Mulish"/>
                <a:cs typeface="Mulish"/>
              </a:rPr>
              <a:t>  Closure blocked until store log, van ledger, location and telemetry agree</a:t>
            </a:r>
          </a:p>
          <a:p>
            <a:pPr>
              <a:spcBef>
                <a:spcPts val="200"/>
              </a:spcBef>
              <a:defRPr sz="900" b="1">
                <a:solidFill>
                  <a:srgbClr val="FD1485"/>
                </a:solidFill>
                <a:latin typeface="Mulish"/>
                <a:ea typeface="Mulish"/>
                <a:cs typeface="Mulish"/>
              </a:defRPr>
            </a:pPr>
            <a:r>
              <a:rPr lang="en-US" sz="900" b="1" dirty="0">
                <a:solidFill>
                  <a:srgbClr val="FD1485"/>
                </a:solidFill>
                <a:latin typeface="Mulish"/>
                <a:ea typeface="Mulish"/>
                <a:cs typeface="Mulish"/>
              </a:rPr>
              <a:t>BEFORE</a:t>
            </a:r>
            <a:r>
              <a:rPr lang="en-US" sz="900" b="0" dirty="0">
                <a:solidFill>
                  <a:srgbClr val="3C3C41"/>
                </a:solidFill>
                <a:latin typeface="Mulish"/>
                <a:ea typeface="Mulish"/>
                <a:cs typeface="Mulish"/>
              </a:rPr>
              <a:t>  Penalties argued for weeks</a:t>
            </a:r>
            <a:br>
              <a:rPr lang="en-US" sz="900"/>
            </a:br>
            <a:r>
              <a:rPr lang="en-US" sz="900" b="1" dirty="0">
                <a:solidFill>
                  <a:srgbClr val="079ED2"/>
                </a:solidFill>
                <a:latin typeface="Mulish"/>
                <a:ea typeface="Mulish"/>
                <a:cs typeface="Mulish"/>
              </a:rPr>
              <a:t>AFTER</a:t>
            </a:r>
            <a:r>
              <a:rPr lang="en-US" sz="900" b="0" dirty="0">
                <a:solidFill>
                  <a:srgbClr val="3C3C41"/>
                </a:solidFill>
                <a:latin typeface="Mulish"/>
                <a:ea typeface="Mulish"/>
                <a:cs typeface="Mulish"/>
              </a:rPr>
              <a:t>  SLA computed from events: met by 54 min in the demo</a:t>
            </a:r>
          </a:p>
        </p:txBody>
      </p:sp>
      <p:sp>
        <p:nvSpPr>
          <p:cNvPr id="31" name="Rounded Rectangle 30"/>
          <p:cNvSpPr/>
          <p:nvPr/>
        </p:nvSpPr>
        <p:spPr>
          <a:xfrm>
            <a:off x="4864608"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184648" y="398678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353334"/>
                </a:solidFill>
                <a:latin typeface="Mulish"/>
                <a:ea typeface="Mulish"/>
                <a:cs typeface="Mulish"/>
              </a:defRPr>
            </a:pPr>
            <a:r>
              <a:t>IMPACT 02</a:t>
            </a:r>
          </a:p>
        </p:txBody>
      </p:sp>
      <p:sp>
        <p:nvSpPr>
          <p:cNvPr id="33" name="TextBox 32"/>
          <p:cNvSpPr txBox="1"/>
          <p:nvPr/>
        </p:nvSpPr>
        <p:spPr>
          <a:xfrm>
            <a:off x="5047488" y="4343400"/>
            <a:ext cx="2606040" cy="1659382"/>
          </a:xfrm>
          <a:prstGeom prst="rect">
            <a:avLst/>
          </a:prstGeom>
          <a:noFill/>
        </p:spPr>
        <p:txBody>
          <a:bodyPr wrap="square">
            <a:spAutoFit/>
          </a:bodyPr>
          <a:lstStyle/>
          <a:p>
            <a:pP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WHO ELSE BENEFITS</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Plants:</a:t>
            </a:r>
            <a:r>
              <a:rPr lang="en-US" sz="900" b="0" dirty="0">
                <a:solidFill>
                  <a:srgbClr val="3C3C41"/>
                </a:solidFill>
                <a:latin typeface="Mulish"/>
                <a:ea typeface="Mulish"/>
                <a:cs typeface="Mulish"/>
              </a:rPr>
              <a:t> a machine history they can verify for warranty claims and audits, plus their own delays recorded fairly.</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Technicians:</a:t>
            </a:r>
            <a:r>
              <a:rPr lang="en-US" sz="900" b="0" dirty="0">
                <a:solidFill>
                  <a:srgbClr val="3C3C41"/>
                </a:solidFill>
                <a:latin typeface="Mulish"/>
                <a:ea typeface="Mulish"/>
                <a:cs typeface="Mulish"/>
              </a:rPr>
              <a:t> fewer blame disputes, and the app works without signal.</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OEMs:</a:t>
            </a:r>
            <a:r>
              <a:rPr lang="en-US" sz="900" b="0" dirty="0">
                <a:solidFill>
                  <a:srgbClr val="3C3C41"/>
                </a:solidFill>
                <a:latin typeface="Mulish"/>
                <a:ea typeface="Mulish"/>
                <a:cs typeface="Mulish"/>
              </a:rPr>
              <a:t> verified maintenance records.</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Small contractors (later):</a:t>
            </a:r>
            <a:r>
              <a:rPr lang="en-US" sz="900" b="0" dirty="0">
                <a:solidFill>
                  <a:srgbClr val="3C3C41"/>
                </a:solidFill>
                <a:latin typeface="Mulish"/>
                <a:ea typeface="Mulish"/>
                <a:cs typeface="Mulish"/>
              </a:rPr>
              <a:t> verified receivables for invoice financing.</a:t>
            </a:r>
          </a:p>
        </p:txBody>
      </p:sp>
      <p:sp>
        <p:nvSpPr>
          <p:cNvPr id="34" name="Rounded Rectangle 33"/>
          <p:cNvSpPr/>
          <p:nvPr/>
        </p:nvSpPr>
        <p:spPr>
          <a:xfrm>
            <a:off x="8083296" y="4114800"/>
            <a:ext cx="2971800" cy="24231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403336" y="398678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IMPACT 03</a:t>
            </a:r>
          </a:p>
        </p:txBody>
      </p:sp>
      <p:sp>
        <p:nvSpPr>
          <p:cNvPr id="36" name="TextBox 35"/>
          <p:cNvSpPr txBox="1"/>
          <p:nvPr/>
        </p:nvSpPr>
        <p:spPr>
          <a:xfrm>
            <a:off x="8266176" y="4343400"/>
            <a:ext cx="2606040" cy="2035429"/>
          </a:xfrm>
          <a:prstGeom prst="rect">
            <a:avLst/>
          </a:prstGeom>
          <a:noFill/>
        </p:spPr>
        <p:txBody>
          <a:bodyPr wrap="square">
            <a:spAutoFit/>
          </a:bodyPr>
          <a:lstStyle/>
          <a:p>
            <a:pPr>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RISKS / MISUSE</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Technician surveillance:</a:t>
            </a:r>
            <a:r>
              <a:rPr lang="en-US" sz="900" b="0" dirty="0">
                <a:solidFill>
                  <a:srgbClr val="3C3C41"/>
                </a:solidFill>
                <a:latin typeface="Mulish"/>
                <a:ea typeface="Mulish"/>
                <a:cs typeface="Mulish"/>
              </a:rPr>
              <a:t> location is recorded only at check-in, check-out and en route to a job.</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Insider rewriting history:</a:t>
            </a:r>
            <a:r>
              <a:rPr lang="en-US" sz="900" b="0" dirty="0">
                <a:solidFill>
                  <a:srgbClr val="3C3C41"/>
                </a:solidFill>
                <a:latin typeface="Mulish"/>
                <a:ea typeface="Mulish"/>
                <a:cs typeface="Mulish"/>
              </a:rPr>
              <a:t> the customer's verifier catches it.</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Silence auto-accepting jobs:</a:t>
            </a:r>
            <a:r>
              <a:rPr lang="en-US" sz="900" b="0" dirty="0">
                <a:solidFill>
                  <a:srgbClr val="3C3C41"/>
                </a:solidFill>
                <a:latin typeface="Mulish"/>
                <a:ea typeface="Mulish"/>
                <a:cs typeface="Mulish"/>
              </a:rPr>
              <a:t> escalation first, then a 7-day dispute window.</a:t>
            </a:r>
          </a:p>
          <a:p>
            <a:pPr marL="114300" indent="-114300">
              <a:spcBef>
                <a:spcPts val="150"/>
              </a:spcBef>
              <a:buClr>
                <a:srgbClr val="FD1485"/>
              </a:buClr>
              <a:buFont typeface="Arial"/>
              <a:buChar char="•"/>
              <a:defRPr sz="900" b="1">
                <a:solidFill>
                  <a:srgbClr val="3C3C41"/>
                </a:solidFill>
                <a:latin typeface="Mulish"/>
                <a:ea typeface="Mulish"/>
                <a:cs typeface="Mulish"/>
              </a:defRPr>
            </a:pPr>
            <a:r>
              <a:rPr lang="en-US" sz="900" b="1" dirty="0">
                <a:solidFill>
                  <a:srgbClr val="3C3C41"/>
                </a:solidFill>
                <a:latin typeface="Mulish"/>
                <a:ea typeface="Mulish"/>
                <a:cs typeface="Mulish"/>
              </a:rPr>
              <a:t>Collusion:</a:t>
            </a:r>
            <a:r>
              <a:rPr lang="en-US" sz="900" b="0" dirty="0">
                <a:solidFill>
                  <a:srgbClr val="3C3C41"/>
                </a:solidFill>
                <a:latin typeface="Mulish"/>
                <a:ea typeface="Mulish"/>
                <a:cs typeface="Mulish"/>
              </a:rPr>
              <a:t> it raises the cost of lying; it doesn't prove truth, and we say so.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ea typeface="Mulish"/>
                <a:cs typeface="Mulish"/>
              </a:defRPr>
            </a:pPr>
            <a:r>
              <a:t>DATAQUEST 3.0  ·  ROUND 1</a:t>
            </a:r>
          </a:p>
        </p:txBody>
      </p:sp>
      <p:sp>
        <p:nvSpPr>
          <p:cNvPr id="21" name="TextBox 20"/>
          <p:cNvSpPr txBox="1"/>
          <p:nvPr/>
        </p:nvSpPr>
        <p:spPr>
          <a:xfrm>
            <a:off x="1645920" y="621792"/>
            <a:ext cx="9144000" cy="777240"/>
          </a:xfrm>
          <a:prstGeom prst="rect">
            <a:avLst/>
          </a:prstGeom>
          <a:noFill/>
        </p:spPr>
        <p:txBody>
          <a:bodyPr wrap="square" lIns="0" tIns="0" rIns="0" bIns="0">
            <a:spAutoFit/>
          </a:bodyPr>
          <a:lstStyle/>
          <a:p>
            <a:pPr>
              <a:defRPr sz="3600" b="1">
                <a:solidFill>
                  <a:srgbClr val="FD1485"/>
                </a:solidFill>
                <a:latin typeface="Fjalla One"/>
                <a:ea typeface="Fjalla One"/>
                <a:cs typeface="Fjalla One"/>
              </a:defRPr>
            </a:pPr>
            <a:r>
              <a:rPr sz="3600" b="1">
                <a:solidFill>
                  <a:srgbClr val="FD1485"/>
                </a:solidFill>
                <a:latin typeface="Fjalla One"/>
                <a:ea typeface="Fjalla One"/>
                <a:cs typeface="Fjalla One"/>
              </a:rPr>
              <a:t>07  </a:t>
            </a:r>
            <a:r>
              <a:rPr sz="3200" b="1">
                <a:solidFill>
                  <a:srgbClr val="353334"/>
                </a:solidFill>
                <a:latin typeface="Fjalla One"/>
                <a:ea typeface="Fjalla One"/>
                <a:cs typeface="Fjalla One"/>
              </a:rPr>
              <a:t>Why This Project?</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ea typeface="Mulish"/>
                <a:cs typeface="Mulish"/>
              </a:defRPr>
            </a:pPr>
            <a:r>
              <a:t>Direct contrast with today's alternatives · Unfair technical advantage</a:t>
            </a:r>
          </a:p>
        </p:txBody>
      </p:sp>
      <p:sp>
        <p:nvSpPr>
          <p:cNvPr id="24" name="Rounded Rectangle 23"/>
          <p:cNvSpPr/>
          <p:nvPr/>
        </p:nvSpPr>
        <p:spPr>
          <a:xfrm>
            <a:off x="1645920" y="2011680"/>
            <a:ext cx="457200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965960" y="1883664"/>
            <a:ext cx="1600200" cy="256032"/>
          </a:xfrm>
          <a:prstGeom prst="roundRect">
            <a:avLst>
              <a:gd name="adj" fmla="val 50000"/>
            </a:avLst>
          </a:prstGeom>
          <a:solidFill>
            <a:srgbClr val="353334"/>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STATUS QUO</a:t>
            </a:r>
          </a:p>
        </p:txBody>
      </p:sp>
      <p:sp>
        <p:nvSpPr>
          <p:cNvPr id="26" name="TextBox 25"/>
          <p:cNvSpPr txBox="1"/>
          <p:nvPr/>
        </p:nvSpPr>
        <p:spPr>
          <a:xfrm>
            <a:off x="1920240" y="2286000"/>
            <a:ext cx="4023360" cy="1671320"/>
          </a:xfrm>
          <a:prstGeom prst="rect">
            <a:avLst/>
          </a:prstGeom>
          <a:noFill/>
        </p:spPr>
        <p:txBody>
          <a:bodyPr wrap="square">
            <a:spAutoFit/>
          </a:bodyPr>
          <a:lstStyle/>
          <a:p>
            <a:pPr>
              <a:defRPr sz="1400" b="1">
                <a:solidFill>
                  <a:srgbClr val="353334"/>
                </a:solidFill>
                <a:latin typeface="Fjalla One"/>
                <a:ea typeface="Fjalla One"/>
                <a:cs typeface="Fjalla One"/>
              </a:defRPr>
            </a:pPr>
            <a:r>
              <a:rPr lang="en-US" sz="1400" b="1" dirty="0">
                <a:solidFill>
                  <a:srgbClr val="353334"/>
                </a:solidFill>
                <a:latin typeface="Fjalla One"/>
                <a:ea typeface="Fjalla One"/>
                <a:cs typeface="Fjalla One"/>
              </a:rPr>
              <a:t>CURRENT APPROACH</a:t>
            </a:r>
          </a:p>
          <a:p>
            <a:pPr>
              <a:spcBef>
                <a:spcPts val="4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ServiceNow, Salesforce, Dynamics 365 and IFS optimise the provider's calendar: skills-based dispatch, schedule gaps, AI summaries. Mid-market tools like Zoho FSM add a customer signature on the provider's report. In all of them, the record belongs to the provider. Nobody tracks what each disruption breaks downstream, and completion still rests on the technician's report.</a:t>
            </a:r>
          </a:p>
        </p:txBody>
      </p:sp>
      <p:sp>
        <p:nvSpPr>
          <p:cNvPr id="27" name="Rounded Rectangle 26"/>
          <p:cNvSpPr/>
          <p:nvPr/>
        </p:nvSpPr>
        <p:spPr>
          <a:xfrm>
            <a:off x="6492240" y="2011680"/>
            <a:ext cx="4572000" cy="265176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12280" y="1883664"/>
            <a:ext cx="160020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OUR SOLUTION</a:t>
            </a:r>
          </a:p>
        </p:txBody>
      </p:sp>
      <p:sp>
        <p:nvSpPr>
          <p:cNvPr id="29" name="TextBox 28"/>
          <p:cNvSpPr txBox="1"/>
          <p:nvPr/>
        </p:nvSpPr>
        <p:spPr>
          <a:xfrm>
            <a:off x="6766560" y="2286000"/>
            <a:ext cx="4023360" cy="1671320"/>
          </a:xfrm>
          <a:prstGeom prst="rect">
            <a:avLst/>
          </a:prstGeom>
          <a:noFill/>
        </p:spPr>
        <p:txBody>
          <a:bodyPr wrap="square">
            <a:spAutoFit/>
          </a:bodyPr>
          <a:lstStyle/>
          <a:p>
            <a:pPr>
              <a:defRPr sz="1400" b="1">
                <a:solidFill>
                  <a:srgbClr val="353334"/>
                </a:solidFill>
                <a:latin typeface="Fjalla One"/>
                <a:ea typeface="Fjalla One"/>
                <a:cs typeface="Fjalla One"/>
              </a:defRPr>
            </a:pPr>
            <a:r>
              <a:rPr lang="en-US" sz="1400" b="1" dirty="0">
                <a:solidFill>
                  <a:srgbClr val="353334"/>
                </a:solidFill>
                <a:latin typeface="Fjalla One"/>
                <a:ea typeface="Fjalla One"/>
                <a:cs typeface="Fjalla One"/>
              </a:rPr>
              <a:t>OUR APPROACH</a:t>
            </a:r>
          </a:p>
          <a:p>
            <a:pPr>
              <a:spcBef>
                <a:spcPts val="400"/>
              </a:spcBef>
              <a:defRPr sz="1000" b="0">
                <a:solidFill>
                  <a:srgbClr val="3C3C41"/>
                </a:solidFill>
                <a:latin typeface="Mulish"/>
                <a:ea typeface="Mulish"/>
                <a:cs typeface="Mulish"/>
              </a:defRPr>
            </a:pPr>
            <a:r>
              <a:rPr lang="en-US" sz="1000" b="0" dirty="0">
                <a:solidFill>
                  <a:srgbClr val="3C3C41"/>
                </a:solidFill>
                <a:latin typeface="Mulish"/>
                <a:ea typeface="Mulish"/>
                <a:cs typeface="Mulish"/>
              </a:rPr>
              <a:t>We treat every job as a network of commitments on a double-entry ledger, including the plant's own promises. A broken commitment triggers a cascade walk and dry-run recovery that can't create new conflicts. Completion is reconciled against records the technician doesn't write. The customer keeps a signed copy of each machine's history and verifies it on their own device.</a:t>
            </a:r>
          </a:p>
        </p:txBody>
      </p:sp>
      <p:sp>
        <p:nvSpPr>
          <p:cNvPr id="30" name="Rounded Rectangle 29"/>
          <p:cNvSpPr/>
          <p:nvPr/>
        </p:nvSpPr>
        <p:spPr>
          <a:xfrm>
            <a:off x="1645920" y="4892040"/>
            <a:ext cx="9418320" cy="164592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965960" y="4764024"/>
            <a:ext cx="160020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850" b="1">
                <a:solidFill>
                  <a:srgbClr val="FFFFFF"/>
                </a:solidFill>
                <a:latin typeface="Mulish"/>
                <a:ea typeface="Mulish"/>
                <a:cs typeface="Mulish"/>
              </a:defRPr>
            </a:pPr>
            <a:r>
              <a:t>MOAT / DIFFERENTIATION</a:t>
            </a:r>
          </a:p>
        </p:txBody>
      </p:sp>
      <p:sp>
        <p:nvSpPr>
          <p:cNvPr id="32" name="TextBox 31"/>
          <p:cNvSpPr txBox="1"/>
          <p:nvPr/>
        </p:nvSpPr>
        <p:spPr>
          <a:xfrm>
            <a:off x="1920240" y="5120640"/>
            <a:ext cx="8869680" cy="995680"/>
          </a:xfrm>
          <a:prstGeom prst="rect">
            <a:avLst/>
          </a:prstGeom>
          <a:noFill/>
        </p:spPr>
        <p:txBody>
          <a:bodyPr wrap="square">
            <a:spAutoFit/>
          </a:bodyPr>
          <a:lstStyle/>
          <a:p>
            <a:pPr>
              <a:defRPr sz="1200" b="1">
                <a:solidFill>
                  <a:srgbClr val="FD1485"/>
                </a:solidFill>
                <a:latin typeface="Fjalla One"/>
                <a:ea typeface="Fjalla One"/>
                <a:cs typeface="Fjalla One"/>
              </a:defRPr>
            </a:pPr>
            <a:r>
              <a:rPr lang="en-US" sz="1200" b="1" dirty="0">
                <a:solidFill>
                  <a:srgbClr val="FD1485"/>
                </a:solidFill>
                <a:latin typeface="Fjalla One"/>
                <a:ea typeface="Fjalla One"/>
                <a:cs typeface="Fjalla One"/>
              </a:rPr>
              <a:t>KEY DIFFERENCE</a:t>
            </a:r>
          </a:p>
          <a:p>
            <a:pPr>
              <a:spcBef>
                <a:spcPts val="400"/>
              </a:spcBef>
              <a:defRPr sz="1200" b="1">
                <a:solidFill>
                  <a:srgbClr val="353334"/>
                </a:solidFill>
                <a:latin typeface="Fjalla One"/>
                <a:ea typeface="Fjalla One"/>
                <a:cs typeface="Fjalla One"/>
              </a:defRPr>
            </a:pPr>
            <a:r>
              <a:rPr lang="en-US" sz="1200" b="1" dirty="0">
                <a:solidFill>
                  <a:srgbClr val="353334"/>
                </a:solidFill>
                <a:latin typeface="Fjalla One"/>
                <a:ea typeface="Fjalla One"/>
                <a:cs typeface="Fjalla One"/>
              </a:rPr>
              <a:t>Existing field-service systems manage jobs. Rivet manages the commitments behind them: Ledger → Cascade → Recovery → Proof. It records every promise, finds everything a broken one affects, recovers without new conflicts, and proves the outcome with a record the customer can verify.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82880" y="1051560"/>
            <a:ext cx="1051560" cy="329184"/>
          </a:xfrm>
          <a:prstGeom prst="roundRect">
            <a:avLst>
              <a:gd name="adj" fmla="val 50000"/>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2880" y="1453896"/>
            <a:ext cx="1463040" cy="329184"/>
          </a:xfrm>
          <a:prstGeom prst="roundRect">
            <a:avLst>
              <a:gd name="adj" fmla="val 50000"/>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 y="1856232"/>
            <a:ext cx="1051560" cy="329184"/>
          </a:xfrm>
          <a:prstGeom prst="roundRect">
            <a:avLst>
              <a:gd name="adj" fmla="val 50000"/>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521440" y="5486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521440" y="7132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521440" y="8778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521440" y="10424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5577840"/>
            <a:ext cx="219456" cy="164592"/>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5742432"/>
            <a:ext cx="219456" cy="164592"/>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907024"/>
            <a:ext cx="219456" cy="164592"/>
          </a:xfrm>
          <a:prstGeom prst="rect">
            <a:avLst/>
          </a:prstGeom>
          <a:solidFill>
            <a:srgbClr val="FD1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6071616"/>
            <a:ext cx="219456" cy="164592"/>
          </a:xfrm>
          <a:prstGeom prst="rect">
            <a:avLst/>
          </a:prstGeom>
          <a:solidFill>
            <a:srgbClr val="079E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087100" y="5934075"/>
            <a:ext cx="32004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1237595" y="5783580"/>
            <a:ext cx="19050" cy="32004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92256" y="5888736"/>
            <a:ext cx="109728" cy="109728"/>
          </a:xfrm>
          <a:prstGeom prst="rect">
            <a:avLst/>
          </a:prstGeom>
          <a:solidFill>
            <a:srgbClr val="FFB9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8412480" y="640080"/>
            <a:ext cx="1005840" cy="822960"/>
          </a:xfrm>
          <a:prstGeom prst="arc">
            <a:avLst/>
          </a:prstGeom>
          <a:noFill/>
          <a:ln w="19050">
            <a:solidFill>
              <a:srgbClr val="079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71332" y="101041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77172" y="598932"/>
            <a:ext cx="82296" cy="82296"/>
          </a:xfrm>
          <a:prstGeom prst="rect">
            <a:avLst/>
          </a:prstGeom>
          <a:solidFill>
            <a:srgbClr val="FFFFFF"/>
          </a:solidFill>
          <a:ln w="17780">
            <a:solidFill>
              <a:srgbClr val="FD14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5920" y="384048"/>
            <a:ext cx="8229600" cy="274320"/>
          </a:xfrm>
          <a:prstGeom prst="rect">
            <a:avLst/>
          </a:prstGeom>
          <a:noFill/>
        </p:spPr>
        <p:txBody>
          <a:bodyPr wrap="none" lIns="0" tIns="0" rIns="0" bIns="0">
            <a:spAutoFit/>
          </a:bodyPr>
          <a:lstStyle/>
          <a:p>
            <a:pPr>
              <a:defRPr sz="1050" b="1">
                <a:solidFill>
                  <a:srgbClr val="353334"/>
                </a:solidFill>
                <a:latin typeface="Mulish"/>
                <a:ea typeface="Mulish"/>
                <a:cs typeface="Mulish"/>
              </a:defRPr>
            </a:pPr>
            <a:r>
              <a:t>DATAQUEST 3.0  ·  ROUND 1</a:t>
            </a:r>
          </a:p>
        </p:txBody>
      </p:sp>
      <p:sp>
        <p:nvSpPr>
          <p:cNvPr id="21" name="TextBox 20"/>
          <p:cNvSpPr txBox="1"/>
          <p:nvPr/>
        </p:nvSpPr>
        <p:spPr>
          <a:xfrm>
            <a:off x="1645920" y="621792"/>
            <a:ext cx="9144000" cy="553998"/>
          </a:xfrm>
          <a:prstGeom prst="rect">
            <a:avLst/>
          </a:prstGeom>
          <a:noFill/>
        </p:spPr>
        <p:txBody>
          <a:bodyPr wrap="square" lIns="0" tIns="0" rIns="0" bIns="0" anchor="t">
            <a:spAutoFit/>
          </a:bodyPr>
          <a:lstStyle/>
          <a:p>
            <a:pPr>
              <a:defRPr sz="3600" b="1">
                <a:solidFill>
                  <a:srgbClr val="FD1485"/>
                </a:solidFill>
                <a:latin typeface="Fjalla One"/>
                <a:ea typeface="Fjalla One"/>
                <a:cs typeface="Fjalla One"/>
              </a:defRPr>
            </a:pPr>
            <a:r>
              <a:rPr lang="en-US" sz="3600" b="1" dirty="0">
                <a:solidFill>
                  <a:srgbClr val="FD1485"/>
                </a:solidFill>
                <a:latin typeface="Fjalla One"/>
                <a:ea typeface="Fjalla One"/>
                <a:cs typeface="Fjalla One"/>
              </a:rPr>
              <a:t>08  </a:t>
            </a:r>
            <a:r>
              <a:rPr sz="3200" b="1" dirty="0">
                <a:solidFill>
                  <a:srgbClr val="353334"/>
                </a:solidFill>
                <a:latin typeface="Fjalla One"/>
                <a:ea typeface="Fjalla One"/>
                <a:cs typeface="Fjalla One"/>
              </a:rPr>
              <a:t>Extra Slide</a:t>
            </a:r>
          </a:p>
        </p:txBody>
      </p:sp>
      <p:sp>
        <p:nvSpPr>
          <p:cNvPr id="22" name="Rectangle 21"/>
          <p:cNvSpPr/>
          <p:nvPr/>
        </p:nvSpPr>
        <p:spPr>
          <a:xfrm>
            <a:off x="1645920" y="1444752"/>
            <a:ext cx="9418320" cy="19050"/>
          </a:xfrm>
          <a:prstGeom prst="rect">
            <a:avLst/>
          </a:prstGeom>
          <a:solidFill>
            <a:srgbClr val="353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517904"/>
            <a:ext cx="9418320" cy="320040"/>
          </a:xfrm>
          <a:prstGeom prst="rect">
            <a:avLst/>
          </a:prstGeom>
          <a:noFill/>
        </p:spPr>
        <p:txBody>
          <a:bodyPr wrap="none" lIns="0" tIns="0" rIns="0" bIns="0">
            <a:spAutoFit/>
          </a:bodyPr>
          <a:lstStyle/>
          <a:p>
            <a:pPr>
              <a:defRPr sz="1100">
                <a:solidFill>
                  <a:srgbClr val="6E6E73"/>
                </a:solidFill>
                <a:latin typeface="Mulish"/>
                <a:ea typeface="Mulish"/>
                <a:cs typeface="Mulish"/>
              </a:defRPr>
            </a:pPr>
            <a:r>
              <a:t>M-104, one morning · the scenario we will demo</a:t>
            </a:r>
          </a:p>
        </p:txBody>
      </p:sp>
      <p:sp>
        <p:nvSpPr>
          <p:cNvPr id="122" name="Card 09:02"/>
          <p:cNvSpPr/>
          <p:nvPr/>
        </p:nvSpPr>
        <p:spPr>
          <a:xfrm>
            <a:off x="1645920" y="2057400"/>
            <a:ext cx="1455420" cy="31546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lang="en-US"/>
          </a:p>
        </p:txBody>
      </p:sp>
      <p:sp>
        <p:nvSpPr>
          <p:cNvPr id="123" name="Time 09:02"/>
          <p:cNvSpPr/>
          <p:nvPr/>
        </p:nvSpPr>
        <p:spPr>
          <a:xfrm>
            <a:off x="1828800" y="1929384"/>
            <a:ext cx="100584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850" b="1">
                <a:solidFill>
                  <a:srgbClr val="FFFFFF"/>
                </a:solidFill>
                <a:latin typeface="Mulish"/>
                <a:ea typeface="Mulish"/>
                <a:cs typeface="Mulish"/>
              </a:defRPr>
            </a:pPr>
            <a:r>
              <a:rPr lang="en-US" sz="850" b="1" dirty="0">
                <a:solidFill>
                  <a:srgbClr val="FFFFFF"/>
                </a:solidFill>
                <a:latin typeface="Mulish"/>
                <a:ea typeface="Mulish"/>
                <a:cs typeface="Mulish"/>
              </a:rPr>
              <a:t>09:02</a:t>
            </a:r>
          </a:p>
        </p:txBody>
      </p:sp>
      <p:sp>
        <p:nvSpPr>
          <p:cNvPr id="124" name="Screen 09:02"/>
          <p:cNvSpPr/>
          <p:nvPr/>
        </p:nvSpPr>
        <p:spPr>
          <a:xfrm>
            <a:off x="1737360" y="2331720"/>
            <a:ext cx="1272540" cy="1737360"/>
          </a:xfrm>
          <a:prstGeom prst="roundRect">
            <a:avLst>
              <a:gd name="adj" fmla="val 8000"/>
            </a:avLst>
          </a:prstGeom>
          <a:solidFill>
            <a:srgbClr val="FFFFF1"/>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lstStyle/>
          <a:p>
            <a:pPr algn="l">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M-104 · FAULT</a:t>
            </a:r>
          </a:p>
          <a:p>
            <a:pPr algn="l">
              <a:spcBef>
                <a:spcPts val="800"/>
              </a:spcBef>
              <a:defRPr sz="900" b="1">
                <a:solidFill>
                  <a:srgbClr val="353334"/>
                </a:solidFill>
                <a:latin typeface="Mulish"/>
                <a:ea typeface="Mulish"/>
                <a:cs typeface="Mulish"/>
              </a:defRPr>
            </a:pPr>
            <a:r>
              <a:rPr lang="en-US" sz="900" b="1" dirty="0">
                <a:solidFill>
                  <a:srgbClr val="353334"/>
                </a:solidFill>
                <a:latin typeface="Mulish"/>
                <a:ea typeface="Mulish"/>
                <a:cs typeface="Mulish"/>
              </a:rPr>
              <a:t>P1 request · 4h SLA</a:t>
            </a:r>
          </a:p>
          <a:p>
            <a:pPr algn="l">
              <a:spcBef>
                <a:spcPts val="600"/>
              </a:spcBef>
              <a:defRPr sz="800" b="0">
                <a:solidFill>
                  <a:srgbClr val="3C3C41"/>
                </a:solidFill>
                <a:latin typeface="Mulish"/>
                <a:ea typeface="Mulish"/>
                <a:cs typeface="Mulish"/>
              </a:defRPr>
            </a:pPr>
            <a:r>
              <a:rPr lang="en-US" sz="800" b="0" dirty="0">
                <a:solidFill>
                  <a:srgbClr val="3C3C41"/>
                </a:solidFill>
                <a:latin typeface="Mulish"/>
                <a:ea typeface="Mulish"/>
                <a:cs typeface="Mulish"/>
              </a:rPr>
              <a:t>✓ contract ✓ skills ✓ parts ✓ tools</a:t>
            </a:r>
          </a:p>
        </p:txBody>
      </p:sp>
      <p:sp>
        <p:nvSpPr>
          <p:cNvPr id="125" name="Moment 09:02"/>
          <p:cNvSpPr/>
          <p:nvPr/>
        </p:nvSpPr>
        <p:spPr>
          <a:xfrm>
            <a:off x="1737360" y="4160520"/>
            <a:ext cx="1272540" cy="23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Sensor spike</a:t>
            </a:r>
          </a:p>
        </p:txBody>
      </p:sp>
      <p:sp>
        <p:nvSpPr>
          <p:cNvPr id="126" name="Caption 09:02"/>
          <p:cNvSpPr/>
          <p:nvPr/>
        </p:nvSpPr>
        <p:spPr>
          <a:xfrm>
            <a:off x="1737360" y="4434840"/>
            <a:ext cx="127254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850" b="0">
                <a:solidFill>
                  <a:srgbClr val="3C3C41"/>
                </a:solidFill>
                <a:latin typeface="Mulish"/>
                <a:ea typeface="Mulish"/>
                <a:cs typeface="Mulish"/>
              </a:defRPr>
            </a:pPr>
            <a:r>
              <a:rPr lang="en-US" sz="850" b="0" dirty="0">
                <a:solidFill>
                  <a:srgbClr val="3C3C41"/>
                </a:solidFill>
                <a:latin typeface="Mulish"/>
                <a:ea typeface="Mulish"/>
                <a:cs typeface="Mulish"/>
              </a:rPr>
              <a:t>Request raised; parts, skills and tools checked in under a second</a:t>
            </a:r>
          </a:p>
        </p:txBody>
      </p:sp>
      <p:sp>
        <p:nvSpPr>
          <p:cNvPr id="127" name="Card 10:10"/>
          <p:cNvSpPr/>
          <p:nvPr/>
        </p:nvSpPr>
        <p:spPr>
          <a:xfrm>
            <a:off x="3238500" y="2057400"/>
            <a:ext cx="1455420" cy="31546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lang="en-US"/>
          </a:p>
        </p:txBody>
      </p:sp>
      <p:sp>
        <p:nvSpPr>
          <p:cNvPr id="128" name="Time 10:10"/>
          <p:cNvSpPr/>
          <p:nvPr/>
        </p:nvSpPr>
        <p:spPr>
          <a:xfrm>
            <a:off x="3421380" y="1929384"/>
            <a:ext cx="100584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850" b="1">
                <a:solidFill>
                  <a:srgbClr val="FFFFFF"/>
                </a:solidFill>
                <a:latin typeface="Mulish"/>
                <a:ea typeface="Mulish"/>
                <a:cs typeface="Mulish"/>
              </a:defRPr>
            </a:pPr>
            <a:r>
              <a:rPr lang="en-US" sz="850" b="1" dirty="0">
                <a:solidFill>
                  <a:srgbClr val="FFFFFF"/>
                </a:solidFill>
                <a:latin typeface="Mulish"/>
                <a:ea typeface="Mulish"/>
                <a:cs typeface="Mulish"/>
              </a:rPr>
              <a:t>10:10</a:t>
            </a:r>
          </a:p>
        </p:txBody>
      </p:sp>
      <p:sp>
        <p:nvSpPr>
          <p:cNvPr id="129" name="Screen 10:10"/>
          <p:cNvSpPr/>
          <p:nvPr/>
        </p:nvSpPr>
        <p:spPr>
          <a:xfrm>
            <a:off x="3329940" y="2331720"/>
            <a:ext cx="1272540" cy="1737360"/>
          </a:xfrm>
          <a:prstGeom prst="roundRect">
            <a:avLst>
              <a:gd name="adj" fmla="val 8000"/>
            </a:avLst>
          </a:prstGeom>
          <a:solidFill>
            <a:srgbClr val="FFFFF1"/>
          </a:solidFill>
          <a:ln w="19050">
            <a:solidFill>
              <a:srgbClr val="FD1485"/>
            </a:solidFill>
          </a:ln>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lstStyle/>
          <a:p>
            <a:pPr algn="l">
              <a:defRPr sz="1300" b="1">
                <a:solidFill>
                  <a:srgbClr val="FD1485"/>
                </a:solidFill>
                <a:latin typeface="Fjalla One"/>
                <a:ea typeface="Fjalla One"/>
                <a:cs typeface="Fjalla One"/>
              </a:defRPr>
            </a:pPr>
            <a:r>
              <a:rPr lang="en-US" sz="1300" b="1" dirty="0">
                <a:solidFill>
                  <a:srgbClr val="FD1485"/>
                </a:solidFill>
                <a:latin typeface="Fjalla One"/>
                <a:ea typeface="Fjalla One"/>
                <a:cs typeface="Fjalla One"/>
              </a:rPr>
              <a:t>RAVI ✕</a:t>
            </a:r>
          </a:p>
          <a:p>
            <a:pPr algn="l">
              <a:spcBef>
                <a:spcPts val="800"/>
              </a:spcBef>
              <a:defRPr sz="900" b="1">
                <a:solidFill>
                  <a:srgbClr val="353334"/>
                </a:solidFill>
                <a:latin typeface="Mulish"/>
                <a:ea typeface="Mulish"/>
                <a:cs typeface="Mulish"/>
              </a:defRPr>
            </a:pPr>
            <a:r>
              <a:rPr lang="en-US" sz="900" b="1" dirty="0">
                <a:solidFill>
                  <a:srgbClr val="353334"/>
                </a:solidFill>
                <a:latin typeface="Mulish"/>
                <a:ea typeface="Mulish"/>
                <a:cs typeface="Mulish"/>
              </a:rPr>
              <a:t>3 jobs · 1 part hold hit</a:t>
            </a:r>
          </a:p>
          <a:p>
            <a:pPr algn="l">
              <a:spcBef>
                <a:spcPts val="600"/>
              </a:spcBef>
              <a:defRPr sz="800" b="0">
                <a:solidFill>
                  <a:srgbClr val="3C3C41"/>
                </a:solidFill>
                <a:latin typeface="Mulish"/>
                <a:ea typeface="Mulish"/>
                <a:cs typeface="Mulish"/>
              </a:defRPr>
            </a:pPr>
            <a:r>
              <a:rPr lang="en-US" sz="800" b="0" dirty="0">
                <a:solidFill>
                  <a:srgbClr val="3C3C41"/>
                </a:solidFill>
                <a:latin typeface="Mulish"/>
                <a:ea typeface="Mulish"/>
                <a:cs typeface="Mulish"/>
              </a:rPr>
              <a:t>12 commitments checked</a:t>
            </a:r>
          </a:p>
        </p:txBody>
      </p:sp>
      <p:sp>
        <p:nvSpPr>
          <p:cNvPr id="130" name="Moment 10:10"/>
          <p:cNvSpPr/>
          <p:nvPr/>
        </p:nvSpPr>
        <p:spPr>
          <a:xfrm>
            <a:off x="3329940" y="4160520"/>
            <a:ext cx="1272540" cy="23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Ravi drops out</a:t>
            </a:r>
          </a:p>
        </p:txBody>
      </p:sp>
      <p:sp>
        <p:nvSpPr>
          <p:cNvPr id="131" name="Caption 10:10"/>
          <p:cNvSpPr/>
          <p:nvPr/>
        </p:nvSpPr>
        <p:spPr>
          <a:xfrm>
            <a:off x="3329940" y="4434840"/>
            <a:ext cx="127254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850" b="0">
                <a:solidFill>
                  <a:srgbClr val="3C3C41"/>
                </a:solidFill>
                <a:latin typeface="Mulish"/>
                <a:ea typeface="Mulish"/>
                <a:cs typeface="Mulish"/>
              </a:defRPr>
            </a:pPr>
            <a:r>
              <a:rPr lang="en-US" sz="850" b="0" dirty="0">
                <a:solidFill>
                  <a:srgbClr val="3C3C41"/>
                </a:solidFill>
                <a:latin typeface="Mulish"/>
                <a:ea typeface="Mulish"/>
                <a:cs typeface="Mulish"/>
              </a:rPr>
              <a:t>Commitment graph turns red: 3 jobs, 1 part hold affected</a:t>
            </a:r>
          </a:p>
        </p:txBody>
      </p:sp>
      <p:sp>
        <p:nvSpPr>
          <p:cNvPr id="132" name="Card 10:11"/>
          <p:cNvSpPr/>
          <p:nvPr/>
        </p:nvSpPr>
        <p:spPr>
          <a:xfrm>
            <a:off x="4831080" y="2057400"/>
            <a:ext cx="1455420" cy="31546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lang="en-US"/>
          </a:p>
        </p:txBody>
      </p:sp>
      <p:sp>
        <p:nvSpPr>
          <p:cNvPr id="133" name="Time 10:11"/>
          <p:cNvSpPr/>
          <p:nvPr/>
        </p:nvSpPr>
        <p:spPr>
          <a:xfrm>
            <a:off x="5013960" y="1929384"/>
            <a:ext cx="100584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850" b="1">
                <a:solidFill>
                  <a:srgbClr val="353334"/>
                </a:solidFill>
                <a:latin typeface="Mulish"/>
                <a:ea typeface="Mulish"/>
                <a:cs typeface="Mulish"/>
              </a:defRPr>
            </a:pPr>
            <a:r>
              <a:rPr lang="en-US" sz="850" b="1" dirty="0">
                <a:solidFill>
                  <a:srgbClr val="353334"/>
                </a:solidFill>
                <a:latin typeface="Mulish"/>
                <a:ea typeface="Mulish"/>
                <a:cs typeface="Mulish"/>
              </a:rPr>
              <a:t>10:11</a:t>
            </a:r>
          </a:p>
        </p:txBody>
      </p:sp>
      <p:sp>
        <p:nvSpPr>
          <p:cNvPr id="134" name="Screen 10:11"/>
          <p:cNvSpPr/>
          <p:nvPr/>
        </p:nvSpPr>
        <p:spPr>
          <a:xfrm>
            <a:off x="4922520" y="2331720"/>
            <a:ext cx="1272540" cy="1737360"/>
          </a:xfrm>
          <a:prstGeom prst="roundRect">
            <a:avLst>
              <a:gd name="adj" fmla="val 8000"/>
            </a:avLst>
          </a:prstGeom>
          <a:solidFill>
            <a:srgbClr val="FFFFF1"/>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lstStyle/>
          <a:p>
            <a:pPr algn="l">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PLAN A ✓</a:t>
            </a:r>
          </a:p>
          <a:p>
            <a:pPr algn="l">
              <a:spcBef>
                <a:spcPts val="800"/>
              </a:spcBef>
              <a:defRPr sz="900" b="1">
                <a:solidFill>
                  <a:srgbClr val="353334"/>
                </a:solidFill>
                <a:latin typeface="Mulish"/>
                <a:ea typeface="Mulish"/>
                <a:cs typeface="Mulish"/>
              </a:defRPr>
            </a:pPr>
            <a:r>
              <a:rPr lang="en-US" sz="900" b="1" dirty="0">
                <a:solidFill>
                  <a:srgbClr val="353334"/>
                </a:solidFill>
                <a:latin typeface="Mulish"/>
                <a:ea typeface="Mulish"/>
                <a:cs typeface="Mulish"/>
              </a:rPr>
              <a:t>0 SLA misses · 3 changes</a:t>
            </a:r>
          </a:p>
          <a:p>
            <a:pPr algn="l">
              <a:spcBef>
                <a:spcPts val="600"/>
              </a:spcBef>
              <a:defRPr sz="800" b="0">
                <a:solidFill>
                  <a:srgbClr val="3C3C41"/>
                </a:solidFill>
                <a:latin typeface="Mulish"/>
                <a:ea typeface="Mulish"/>
                <a:cs typeface="Mulish"/>
              </a:defRPr>
            </a:pPr>
            <a:r>
              <a:rPr lang="en-US" sz="800" b="0" dirty="0">
                <a:solidFill>
                  <a:srgbClr val="3C3C41"/>
                </a:solidFill>
                <a:latin typeface="Mulish"/>
                <a:ea typeface="Mulish"/>
                <a:cs typeface="Mulish"/>
              </a:rPr>
              <a:t>4 unsafe options refused</a:t>
            </a:r>
          </a:p>
        </p:txBody>
      </p:sp>
      <p:sp>
        <p:nvSpPr>
          <p:cNvPr id="135" name="Moment 10:11"/>
          <p:cNvSpPr/>
          <p:nvPr/>
        </p:nvSpPr>
        <p:spPr>
          <a:xfrm>
            <a:off x="4922520" y="4160520"/>
            <a:ext cx="1272540" cy="23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Recovery</a:t>
            </a:r>
          </a:p>
        </p:txBody>
      </p:sp>
      <p:sp>
        <p:nvSpPr>
          <p:cNvPr id="136" name="Caption 10:11"/>
          <p:cNvSpPr/>
          <p:nvPr/>
        </p:nvSpPr>
        <p:spPr>
          <a:xfrm>
            <a:off x="4922520" y="4434840"/>
            <a:ext cx="127254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850" b="0">
                <a:solidFill>
                  <a:srgbClr val="3C3C41"/>
                </a:solidFill>
                <a:latin typeface="Mulish"/>
                <a:ea typeface="Mulish"/>
                <a:cs typeface="Mulish"/>
              </a:defRPr>
            </a:pPr>
            <a:r>
              <a:rPr lang="en-US" sz="850" b="0" dirty="0">
                <a:solidFill>
                  <a:srgbClr val="3C3C41"/>
                </a:solidFill>
                <a:latin typeface="Mulish"/>
                <a:ea typeface="Mulish"/>
                <a:cs typeface="Mulish"/>
              </a:rPr>
              <a:t>Plan A in one click; unsafe options shown as refused</a:t>
            </a:r>
          </a:p>
        </p:txBody>
      </p:sp>
      <p:sp>
        <p:nvSpPr>
          <p:cNvPr id="137" name="Card 11:05"/>
          <p:cNvSpPr/>
          <p:nvPr/>
        </p:nvSpPr>
        <p:spPr>
          <a:xfrm>
            <a:off x="6423660" y="2057400"/>
            <a:ext cx="1455420" cy="31546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lang="en-US"/>
          </a:p>
        </p:txBody>
      </p:sp>
      <p:sp>
        <p:nvSpPr>
          <p:cNvPr id="138" name="Time 11:05"/>
          <p:cNvSpPr/>
          <p:nvPr/>
        </p:nvSpPr>
        <p:spPr>
          <a:xfrm>
            <a:off x="6606540" y="1929384"/>
            <a:ext cx="1005840" cy="256032"/>
          </a:xfrm>
          <a:prstGeom prst="roundRect">
            <a:avLst>
              <a:gd name="adj" fmla="val 50000"/>
            </a:avLst>
          </a:prstGeom>
          <a:solidFill>
            <a:srgbClr val="079ED2"/>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850" b="1">
                <a:solidFill>
                  <a:srgbClr val="FFFFFF"/>
                </a:solidFill>
                <a:latin typeface="Mulish"/>
                <a:ea typeface="Mulish"/>
                <a:cs typeface="Mulish"/>
              </a:defRPr>
            </a:pPr>
            <a:r>
              <a:rPr lang="en-US" sz="850" b="1" dirty="0">
                <a:solidFill>
                  <a:srgbClr val="FFFFFF"/>
                </a:solidFill>
                <a:latin typeface="Mulish"/>
                <a:ea typeface="Mulish"/>
                <a:cs typeface="Mulish"/>
              </a:rPr>
              <a:t>11:05</a:t>
            </a:r>
          </a:p>
        </p:txBody>
      </p:sp>
      <p:sp>
        <p:nvSpPr>
          <p:cNvPr id="139" name="Screen 11:05"/>
          <p:cNvSpPr/>
          <p:nvPr/>
        </p:nvSpPr>
        <p:spPr>
          <a:xfrm>
            <a:off x="6515100" y="2331720"/>
            <a:ext cx="1272540" cy="1737360"/>
          </a:xfrm>
          <a:prstGeom prst="roundRect">
            <a:avLst>
              <a:gd name="adj" fmla="val 8000"/>
            </a:avLst>
          </a:prstGeom>
          <a:solidFill>
            <a:srgbClr val="FFFFF1"/>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lstStyle/>
          <a:p>
            <a:pPr algn="l">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PERMIT PENDING</a:t>
            </a:r>
          </a:p>
          <a:p>
            <a:pPr algn="l">
              <a:spcBef>
                <a:spcPts val="800"/>
              </a:spcBef>
              <a:defRPr sz="900" b="1">
                <a:solidFill>
                  <a:srgbClr val="353334"/>
                </a:solidFill>
                <a:latin typeface="Mulish"/>
                <a:ea typeface="Mulish"/>
                <a:cs typeface="Mulish"/>
              </a:defRPr>
            </a:pPr>
            <a:r>
              <a:rPr lang="en-US" sz="900" b="1" dirty="0">
                <a:solidFill>
                  <a:srgbClr val="353334"/>
                </a:solidFill>
                <a:latin typeface="Mulish"/>
                <a:ea typeface="Mulish"/>
                <a:cs typeface="Mulish"/>
              </a:rPr>
              <a:t>Start work locked</a:t>
            </a:r>
          </a:p>
          <a:p>
            <a:pPr algn="l">
              <a:spcBef>
                <a:spcPts val="600"/>
              </a:spcBef>
              <a:defRPr sz="800" b="0">
                <a:solidFill>
                  <a:srgbClr val="3C3C41"/>
                </a:solidFill>
                <a:latin typeface="Mulish"/>
                <a:ea typeface="Mulish"/>
                <a:cs typeface="Mulish"/>
              </a:defRPr>
            </a:pPr>
            <a:r>
              <a:rPr lang="en-US" sz="800" b="0" dirty="0">
                <a:solidFill>
                  <a:srgbClr val="3C3C41"/>
                </a:solidFill>
                <a:latin typeface="Mulish"/>
                <a:ea typeface="Mulish"/>
                <a:cs typeface="Mulish"/>
              </a:rPr>
              <a:t>SLA paused: plant-side</a:t>
            </a:r>
          </a:p>
        </p:txBody>
      </p:sp>
      <p:sp>
        <p:nvSpPr>
          <p:cNvPr id="140" name="Moment 11:05"/>
          <p:cNvSpPr/>
          <p:nvPr/>
        </p:nvSpPr>
        <p:spPr>
          <a:xfrm>
            <a:off x="6515100" y="4160520"/>
            <a:ext cx="1272540" cy="23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Permit late</a:t>
            </a:r>
          </a:p>
        </p:txBody>
      </p:sp>
      <p:sp>
        <p:nvSpPr>
          <p:cNvPr id="141" name="Caption 11:05"/>
          <p:cNvSpPr/>
          <p:nvPr/>
        </p:nvSpPr>
        <p:spPr>
          <a:xfrm>
            <a:off x="6515100" y="4434840"/>
            <a:ext cx="127254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850" b="0">
                <a:solidFill>
                  <a:srgbClr val="3C3C41"/>
                </a:solidFill>
                <a:latin typeface="Mulish"/>
                <a:ea typeface="Mulish"/>
                <a:cs typeface="Mulish"/>
              </a:defRPr>
            </a:pPr>
            <a:r>
              <a:rPr lang="en-US" sz="850" b="0" dirty="0">
                <a:solidFill>
                  <a:srgbClr val="3C3C41"/>
                </a:solidFill>
                <a:latin typeface="Mulish"/>
                <a:ea typeface="Mulish"/>
                <a:cs typeface="Mulish"/>
              </a:rPr>
              <a:t>Start locked; the SLA pauses on the plant's side, with evidence</a:t>
            </a:r>
          </a:p>
        </p:txBody>
      </p:sp>
      <p:sp>
        <p:nvSpPr>
          <p:cNvPr id="142" name="Card 12:20"/>
          <p:cNvSpPr/>
          <p:nvPr/>
        </p:nvSpPr>
        <p:spPr>
          <a:xfrm>
            <a:off x="8016240" y="2057400"/>
            <a:ext cx="1455420" cy="31546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lang="en-US"/>
          </a:p>
        </p:txBody>
      </p:sp>
      <p:sp>
        <p:nvSpPr>
          <p:cNvPr id="143" name="Time 12:20"/>
          <p:cNvSpPr/>
          <p:nvPr/>
        </p:nvSpPr>
        <p:spPr>
          <a:xfrm>
            <a:off x="8199120" y="1929384"/>
            <a:ext cx="1005840" cy="256032"/>
          </a:xfrm>
          <a:prstGeom prst="roundRect">
            <a:avLst>
              <a:gd name="adj" fmla="val 50000"/>
            </a:avLst>
          </a:prstGeom>
          <a:solidFill>
            <a:srgbClr val="FD1485"/>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850" b="1">
                <a:solidFill>
                  <a:srgbClr val="FFFFFF"/>
                </a:solidFill>
                <a:latin typeface="Mulish"/>
                <a:ea typeface="Mulish"/>
                <a:cs typeface="Mulish"/>
              </a:defRPr>
            </a:pPr>
            <a:r>
              <a:rPr lang="en-US" sz="850" b="1" dirty="0">
                <a:solidFill>
                  <a:srgbClr val="FFFFFF"/>
                </a:solidFill>
                <a:latin typeface="Mulish"/>
                <a:ea typeface="Mulish"/>
                <a:cs typeface="Mulish"/>
              </a:rPr>
              <a:t>12:20</a:t>
            </a:r>
          </a:p>
        </p:txBody>
      </p:sp>
      <p:sp>
        <p:nvSpPr>
          <p:cNvPr id="144" name="Screen 12:20"/>
          <p:cNvSpPr/>
          <p:nvPr/>
        </p:nvSpPr>
        <p:spPr>
          <a:xfrm>
            <a:off x="8107680" y="2331720"/>
            <a:ext cx="1272540" cy="1737360"/>
          </a:xfrm>
          <a:prstGeom prst="roundRect">
            <a:avLst>
              <a:gd name="adj" fmla="val 8000"/>
            </a:avLst>
          </a:prstGeom>
          <a:solidFill>
            <a:srgbClr val="FFFFF1"/>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lstStyle/>
          <a:p>
            <a:pPr algn="l">
              <a:defRPr sz="1300" b="1">
                <a:solidFill>
                  <a:srgbClr val="353334"/>
                </a:solidFill>
                <a:latin typeface="Fjalla One"/>
                <a:ea typeface="Fjalla One"/>
                <a:cs typeface="Fjalla One"/>
              </a:defRPr>
            </a:pPr>
            <a:r>
              <a:rPr lang="en-US" sz="1300" b="1" dirty="0">
                <a:solidFill>
                  <a:srgbClr val="353334"/>
                </a:solidFill>
                <a:latin typeface="Fjalla One"/>
                <a:ea typeface="Fjalla One"/>
                <a:cs typeface="Fjalla One"/>
              </a:rPr>
              <a:t>FIX VERIFIED</a:t>
            </a:r>
          </a:p>
          <a:p>
            <a:pPr algn="l">
              <a:spcBef>
                <a:spcPts val="800"/>
              </a:spcBef>
              <a:defRPr sz="900" b="1">
                <a:solidFill>
                  <a:srgbClr val="353334"/>
                </a:solidFill>
                <a:latin typeface="Mulish"/>
                <a:ea typeface="Mulish"/>
                <a:cs typeface="Mulish"/>
              </a:defRPr>
            </a:pPr>
            <a:r>
              <a:rPr lang="en-US" sz="900" b="1" dirty="0">
                <a:solidFill>
                  <a:srgbClr val="353334"/>
                </a:solidFill>
                <a:latin typeface="Mulish"/>
                <a:ea typeface="Mulish"/>
                <a:cs typeface="Mulish"/>
              </a:rPr>
              <a:t>Machine running, in band</a:t>
            </a:r>
          </a:p>
          <a:p>
            <a:pPr algn="l">
              <a:spcBef>
                <a:spcPts val="600"/>
              </a:spcBef>
              <a:defRPr sz="800" b="0">
                <a:solidFill>
                  <a:srgbClr val="3C3C41"/>
                </a:solidFill>
                <a:latin typeface="Mulish"/>
                <a:ea typeface="Mulish"/>
                <a:cs typeface="Mulish"/>
              </a:defRPr>
            </a:pPr>
            <a:r>
              <a:rPr lang="en-US" sz="800" b="0" dirty="0">
                <a:solidFill>
                  <a:srgbClr val="3C3C41"/>
                </a:solidFill>
                <a:latin typeface="Mulish"/>
                <a:ea typeface="Mulish"/>
                <a:cs typeface="Mulish"/>
              </a:rPr>
              <a:t>✕ 2-kit claim blocked</a:t>
            </a:r>
          </a:p>
        </p:txBody>
      </p:sp>
      <p:sp>
        <p:nvSpPr>
          <p:cNvPr id="145" name="Moment 12:20"/>
          <p:cNvSpPr/>
          <p:nvPr/>
        </p:nvSpPr>
        <p:spPr>
          <a:xfrm>
            <a:off x="8107680" y="4160520"/>
            <a:ext cx="1272540" cy="23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Fix verified</a:t>
            </a:r>
          </a:p>
        </p:txBody>
      </p:sp>
      <p:sp>
        <p:nvSpPr>
          <p:cNvPr id="146" name="Caption 12:20"/>
          <p:cNvSpPr/>
          <p:nvPr/>
        </p:nvSpPr>
        <p:spPr>
          <a:xfrm>
            <a:off x="8107680" y="4434840"/>
            <a:ext cx="127254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850" b="0">
                <a:solidFill>
                  <a:srgbClr val="3C3C41"/>
                </a:solidFill>
                <a:latin typeface="Mulish"/>
                <a:ea typeface="Mulish"/>
                <a:cs typeface="Mulish"/>
              </a:defRPr>
            </a:pPr>
            <a:r>
              <a:rPr lang="en-US" sz="850" b="0" dirty="0">
                <a:solidFill>
                  <a:srgbClr val="3C3C41"/>
                </a:solidFill>
                <a:latin typeface="Mulish"/>
                <a:ea typeface="Mulish"/>
                <a:cs typeface="Mulish"/>
              </a:rPr>
              <a:t>Telemetry confirms the machine is running; a false 2-kit claim is blocked</a:t>
            </a:r>
          </a:p>
        </p:txBody>
      </p:sp>
      <p:sp>
        <p:nvSpPr>
          <p:cNvPr id="147" name="Card 12:26"/>
          <p:cNvSpPr/>
          <p:nvPr/>
        </p:nvSpPr>
        <p:spPr>
          <a:xfrm>
            <a:off x="9608820" y="2057400"/>
            <a:ext cx="1455420" cy="31546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lang="en-US"/>
          </a:p>
        </p:txBody>
      </p:sp>
      <p:sp>
        <p:nvSpPr>
          <p:cNvPr id="148" name="Time 12:26"/>
          <p:cNvSpPr/>
          <p:nvPr/>
        </p:nvSpPr>
        <p:spPr>
          <a:xfrm>
            <a:off x="9791700" y="1929384"/>
            <a:ext cx="100584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850" b="1">
                <a:solidFill>
                  <a:srgbClr val="353334"/>
                </a:solidFill>
                <a:latin typeface="Mulish"/>
                <a:ea typeface="Mulish"/>
                <a:cs typeface="Mulish"/>
              </a:defRPr>
            </a:pPr>
            <a:r>
              <a:rPr lang="en-US" sz="850" b="1" dirty="0">
                <a:solidFill>
                  <a:srgbClr val="353334"/>
                </a:solidFill>
                <a:latin typeface="Mulish"/>
                <a:ea typeface="Mulish"/>
                <a:cs typeface="Mulish"/>
              </a:rPr>
              <a:t>12:26</a:t>
            </a:r>
          </a:p>
        </p:txBody>
      </p:sp>
      <p:sp>
        <p:nvSpPr>
          <p:cNvPr id="149" name="Screen 12:26"/>
          <p:cNvSpPr/>
          <p:nvPr/>
        </p:nvSpPr>
        <p:spPr>
          <a:xfrm>
            <a:off x="9700260" y="2331720"/>
            <a:ext cx="1272540" cy="1737360"/>
          </a:xfrm>
          <a:prstGeom prst="roundRect">
            <a:avLst>
              <a:gd name="adj" fmla="val 8000"/>
            </a:avLst>
          </a:prstGeom>
          <a:solidFill>
            <a:srgbClr val="FFFFF1"/>
          </a:solidFill>
          <a:ln w="19050">
            <a:solidFill>
              <a:srgbClr val="FD1485"/>
            </a:solidFill>
          </a:ln>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lstStyle/>
          <a:p>
            <a:pPr algn="l">
              <a:defRPr sz="1300" b="1">
                <a:solidFill>
                  <a:srgbClr val="FD1485"/>
                </a:solidFill>
                <a:latin typeface="Fjalla One"/>
                <a:ea typeface="Fjalla One"/>
                <a:cs typeface="Fjalla One"/>
              </a:defRPr>
            </a:pPr>
            <a:r>
              <a:rPr lang="en-US" sz="1300" b="1" dirty="0">
                <a:solidFill>
                  <a:srgbClr val="FD1485"/>
                </a:solidFill>
                <a:latin typeface="Fjalla One"/>
                <a:ea typeface="Fjalla One"/>
                <a:cs typeface="Fjalla One"/>
              </a:rPr>
              <a:t>HISTORY CHANGED</a:t>
            </a:r>
          </a:p>
          <a:p>
            <a:pPr algn="l">
              <a:spcBef>
                <a:spcPts val="800"/>
              </a:spcBef>
              <a:defRPr sz="900" b="1">
                <a:solidFill>
                  <a:srgbClr val="353334"/>
                </a:solidFill>
                <a:latin typeface="Mulish"/>
                <a:ea typeface="Mulish"/>
                <a:cs typeface="Mulish"/>
              </a:defRPr>
            </a:pPr>
            <a:r>
              <a:rPr lang="en-US" sz="900" b="1" dirty="0">
                <a:solidFill>
                  <a:srgbClr val="353334"/>
                </a:solidFill>
                <a:latin typeface="Mulish"/>
                <a:ea typeface="Mulish"/>
                <a:cs typeface="Mulish"/>
              </a:rPr>
              <a:t>at event 412</a:t>
            </a:r>
          </a:p>
          <a:p>
            <a:pPr algn="l">
              <a:spcBef>
                <a:spcPts val="600"/>
              </a:spcBef>
              <a:defRPr sz="800" b="0">
                <a:solidFill>
                  <a:srgbClr val="3C3C41"/>
                </a:solidFill>
                <a:latin typeface="Mulish"/>
                <a:ea typeface="Mulish"/>
                <a:cs typeface="Mulish"/>
              </a:defRPr>
            </a:pPr>
            <a:r>
              <a:rPr lang="en-US" sz="800" b="0" dirty="0">
                <a:solidFill>
                  <a:srgbClr val="3C3C41"/>
                </a:solidFill>
                <a:latin typeface="Mulish"/>
                <a:ea typeface="Mulish"/>
                <a:cs typeface="Mulish"/>
              </a:rPr>
              <a:t>caught by the plant's verifier</a:t>
            </a:r>
          </a:p>
        </p:txBody>
      </p:sp>
      <p:sp>
        <p:nvSpPr>
          <p:cNvPr id="150" name="Moment 12:26"/>
          <p:cNvSpPr/>
          <p:nvPr/>
        </p:nvSpPr>
        <p:spPr>
          <a:xfrm>
            <a:off x="9700260" y="4160520"/>
            <a:ext cx="1272540" cy="23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1100" b="1">
                <a:solidFill>
                  <a:srgbClr val="353334"/>
                </a:solidFill>
                <a:latin typeface="Fjalla One"/>
                <a:ea typeface="Fjalla One"/>
                <a:cs typeface="Fjalla One"/>
              </a:defRPr>
            </a:pPr>
            <a:r>
              <a:rPr lang="en-US" sz="1100" b="1" dirty="0">
                <a:solidFill>
                  <a:srgbClr val="353334"/>
                </a:solidFill>
                <a:latin typeface="Fjalla One"/>
                <a:ea typeface="Fjalla One"/>
                <a:cs typeface="Fjalla One"/>
              </a:rPr>
              <a:t>Customer verifies</a:t>
            </a:r>
          </a:p>
        </p:txBody>
      </p:sp>
      <p:sp>
        <p:nvSpPr>
          <p:cNvPr id="151" name="Caption 12:26"/>
          <p:cNvSpPr/>
          <p:nvPr/>
        </p:nvSpPr>
        <p:spPr>
          <a:xfrm>
            <a:off x="9700260" y="4434840"/>
            <a:ext cx="127254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l">
              <a:defRPr sz="850" b="0">
                <a:solidFill>
                  <a:srgbClr val="3C3C41"/>
                </a:solidFill>
                <a:latin typeface="Mulish"/>
                <a:ea typeface="Mulish"/>
                <a:cs typeface="Mulish"/>
              </a:defRPr>
            </a:pPr>
            <a:r>
              <a:rPr lang="en-US" sz="850" b="0" dirty="0">
                <a:solidFill>
                  <a:srgbClr val="3C3C41"/>
                </a:solidFill>
                <a:latin typeface="Mulish"/>
                <a:ea typeface="Mulish"/>
                <a:cs typeface="Mulish"/>
              </a:rPr>
              <a:t>The plant's verifier catches a re-signed rewrite of history</a:t>
            </a:r>
          </a:p>
        </p:txBody>
      </p:sp>
      <p:sp>
        <p:nvSpPr>
          <p:cNvPr id="152" name="Result card"/>
          <p:cNvSpPr/>
          <p:nvPr/>
        </p:nvSpPr>
        <p:spPr>
          <a:xfrm>
            <a:off x="1645920" y="5440680"/>
            <a:ext cx="9418320" cy="1097280"/>
          </a:xfrm>
          <a:prstGeom prst="roundRect">
            <a:avLst>
              <a:gd name="adj" fmla="val 3500"/>
            </a:avLst>
          </a:prstGeom>
          <a:solidFill>
            <a:srgbClr val="FFFFFF"/>
          </a:solidFill>
          <a:ln w="19050">
            <a:solidFill>
              <a:srgbClr val="353334"/>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lang="en-US"/>
          </a:p>
        </p:txBody>
      </p:sp>
      <p:sp>
        <p:nvSpPr>
          <p:cNvPr id="153" name="Result pill"/>
          <p:cNvSpPr/>
          <p:nvPr/>
        </p:nvSpPr>
        <p:spPr>
          <a:xfrm>
            <a:off x="1965960" y="5312664"/>
            <a:ext cx="1600200" cy="256032"/>
          </a:xfrm>
          <a:prstGeom prst="roundRect">
            <a:avLst>
              <a:gd name="adj" fmla="val 50000"/>
            </a:avLst>
          </a:prstGeom>
          <a:solidFill>
            <a:srgbClr val="FFB903"/>
          </a:solidFill>
          <a:ln w="15240">
            <a:solidFill>
              <a:srgbClr val="353334"/>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850" b="1">
                <a:solidFill>
                  <a:srgbClr val="353334"/>
                </a:solidFill>
                <a:latin typeface="Mulish"/>
                <a:ea typeface="Mulish"/>
                <a:cs typeface="Mulish"/>
              </a:defRPr>
            </a:pPr>
            <a:r>
              <a:rPr lang="en-US" sz="850" b="1" dirty="0">
                <a:solidFill>
                  <a:srgbClr val="353334"/>
                </a:solidFill>
                <a:latin typeface="Mulish"/>
                <a:ea typeface="Mulish"/>
                <a:cs typeface="Mulish"/>
              </a:rPr>
              <a:t>DESIGNED OUTCOME</a:t>
            </a:r>
          </a:p>
        </p:txBody>
      </p:sp>
      <p:sp>
        <p:nvSpPr>
          <p:cNvPr id="154" name="Result text"/>
          <p:cNvSpPr/>
          <p:nvPr/>
        </p:nvSpPr>
        <p:spPr>
          <a:xfrm>
            <a:off x="1965960" y="5640000"/>
            <a:ext cx="877824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l">
              <a:defRPr sz="2400" b="1">
                <a:solidFill>
                  <a:srgbClr val="353334"/>
                </a:solidFill>
                <a:latin typeface="Fjalla One"/>
                <a:ea typeface="Fjalla One"/>
                <a:cs typeface="Fjalla One"/>
              </a:defRPr>
            </a:pPr>
            <a:r>
              <a:rPr lang="en-US" sz="2400" b="1" dirty="0">
                <a:solidFill>
                  <a:srgbClr val="353334"/>
                </a:solidFill>
                <a:latin typeface="Fjalla One"/>
                <a:ea typeface="Fjalla One"/>
                <a:cs typeface="Fjalla One"/>
              </a:rPr>
              <a:t>SLA met by </a:t>
            </a:r>
            <a:r>
              <a:rPr lang="en-US" sz="2400" b="1" dirty="0">
                <a:solidFill>
                  <a:srgbClr val="FD1485"/>
                </a:solidFill>
                <a:latin typeface="Fjalla One"/>
                <a:ea typeface="Fjalla One"/>
                <a:cs typeface="Fjalla One"/>
              </a:rPr>
              <a:t>54 minutes</a:t>
            </a:r>
            <a:r>
              <a:rPr lang="en-US" sz="2400" b="1" dirty="0">
                <a:solidFill>
                  <a:srgbClr val="353334"/>
                </a:solidFill>
                <a:latin typeface="Fjalla One"/>
                <a:ea typeface="Fjalla One"/>
                <a:cs typeface="Fjalla One"/>
              </a:rPr>
              <a:t>, computed from events, not typed.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1858</Words>
  <Application>Microsoft Office PowerPoint</Application>
  <PresentationFormat>Widescreen</PresentationFormat>
  <Paragraphs>208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Fjalla One</vt:lpstr>
      <vt:lpstr>Mulish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User .</cp:lastModifiedBy>
  <cp:revision>9</cp:revision>
  <dcterms:created xsi:type="dcterms:W3CDTF">2013-01-27T09:14:16Z</dcterms:created>
  <dcterms:modified xsi:type="dcterms:W3CDTF">2026-10-07T22:17:16Z</dcterms:modified>
  <cp:category/>
</cp:coreProperties>
</file>